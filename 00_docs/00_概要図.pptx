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75"/>
    <a:srgbClr val="FFDE75"/>
    <a:srgbClr val="FFA3A3"/>
    <a:srgbClr val="FF0101"/>
    <a:srgbClr val="96B0DE"/>
    <a:srgbClr val="F3A671"/>
    <a:srgbClr val="B2D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5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D52D8F-75F8-438D-8209-A63C4E193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0635B66-7D2E-47B8-8791-BCC451C4C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3E2F91-AF9B-4FFA-94F1-D9A2AF459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2CB62-F321-469D-84C2-87D26F43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D19A2D-8A2A-4446-B479-B452A629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85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E02D19-6907-46AC-8364-02A65C33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555831-A1DA-4989-8848-5B615A35E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B7530B-C48A-4547-958A-1718C7909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614847-E49A-4BA6-AA6D-03036E5D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523E15-D429-407F-AD11-635C35C5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3239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89F079-39DE-47B1-ADC8-CEC34E2F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487A42-7480-468B-8836-FEE9EE63A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6EAA76-32A1-4748-ACE5-1565E8B96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5A2D9D-4D41-4389-B35E-4887F384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AEE08D-FFA7-4038-91E5-3ADC99F1E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876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97DF6D-8F93-4585-BBD1-FE4969F1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9FAD06-226E-4527-964B-79DEE1E37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143EAC-66E4-41E3-91A3-704BDE5BE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ABA510-7C1C-4A3B-97BB-1A4689F7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D80BB3-CE68-4209-B5CF-94A9475F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D7094C-08E2-4784-A842-4264D2D02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48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5223C2-9B86-41C1-BF08-5A3868A94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0A1D0E-441C-4F2A-89DD-6D85F1EC1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EF4A401-1179-49D1-8F68-7F021782E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15DDB33-E3F6-471F-A138-CB49E02E85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7858D4-E418-4412-9509-B6CA2117B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4C2D37-21FE-4F7B-973D-C3EEC649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F6CAA92-258A-4B6F-AB77-F7A5440B1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4F71FA-DD87-4181-97D3-D86D8B88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04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F6A8D2-64D1-4E1C-B612-CDC6FADB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957B554-99E6-40A3-A0A0-0B14747F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57F1643-E62B-4D48-AD85-348880B9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CA2976-5FCA-4603-9752-615F2DE6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570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0D76ED-1C29-4E43-ABB3-5B69451F7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970811A-8E79-4496-86A8-8F76F19B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662F26-A382-440C-AF08-16017252B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037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5CFA2C-09A2-49E5-8661-6ED7BD70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63F111-F326-4AF2-8415-DC9AA4D11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F5CCA8-F4FA-40DB-B86E-74FF2649B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7C0AEC-500E-43CB-A949-3B4D05543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1FD242-5AEB-4D32-B07A-A719E74B3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6F24D0-634C-4BA5-AE48-92909B06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5752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19ABB-BC4C-4F1A-A942-B856218B4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9813D45-143F-4FBD-AFD7-73E0E53D65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0CC14E-8273-4DD4-851B-ECBF7FE6B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F48EB6-ED79-4EC0-935A-23D308FE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97AEDD-7170-42DD-9BFD-8F2906E6A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B6F0F6-B170-4782-9148-CE1444A5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817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00349C-E83B-4A03-970F-3C1E079C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A28290-04EA-4F9E-BA80-73C9EFF11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45310D-39C7-4F0D-ADE6-991D83070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455631-6E32-4664-9021-E4EBAF76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915F24-DB0F-4639-BB26-526A918F3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87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8908D4E-EF64-4A47-BB1F-FC7BA9504E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EEF349-98EF-4A82-919C-B667C7087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E6EB7A-5CB3-405A-A821-ADE03822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EBE488-0CEF-4A3B-843F-FB0C0B4E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A1F53F-155C-4FFF-A9AB-396C38D8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359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69A562A-6BE2-4CB6-8CF5-D7557020D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3E9BB8-BE72-4FD6-B832-34F5168DD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839918-B6DB-42A5-9A0C-A41526201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C2EEC-06A7-4039-B6EB-DB86CF0AE1D3}" type="datetimeFigureOut">
              <a:rPr kumimoji="1" lang="ja-JP" altLang="en-US" smtClean="0"/>
              <a:t>2026/2/18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8B0D27-BFEC-449D-8D60-6462B0FA7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00DA0F-3EE2-45D3-A836-D5CF60D6E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6A78C-3ED3-41B6-97CC-E1A5A750FB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28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図 52">
            <a:extLst>
              <a:ext uri="{FF2B5EF4-FFF2-40B4-BE49-F238E27FC236}">
                <a16:creationId xmlns:a16="http://schemas.microsoft.com/office/drawing/2014/main" id="{0BA3B370-2E1D-413F-ABA8-7BB34C4E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387" y="1506784"/>
            <a:ext cx="1497758" cy="556859"/>
          </a:xfrm>
          <a:prstGeom prst="rect">
            <a:avLst/>
          </a:prstGeom>
        </p:spPr>
      </p:pic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A930458-6EA9-4503-9F84-FCE6C42EE030}"/>
              </a:ext>
            </a:extLst>
          </p:cNvPr>
          <p:cNvSpPr/>
          <p:nvPr/>
        </p:nvSpPr>
        <p:spPr>
          <a:xfrm>
            <a:off x="1600914" y="616200"/>
            <a:ext cx="8205452" cy="5974080"/>
          </a:xfrm>
          <a:prstGeom prst="roundRect">
            <a:avLst>
              <a:gd name="adj" fmla="val 3647"/>
            </a:avLst>
          </a:prstGeom>
          <a:noFill/>
          <a:ln w="222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519655D-0C9C-4F1F-9CAF-817C0F26EB88}"/>
              </a:ext>
            </a:extLst>
          </p:cNvPr>
          <p:cNvSpPr/>
          <p:nvPr/>
        </p:nvSpPr>
        <p:spPr>
          <a:xfrm>
            <a:off x="1802889" y="1064932"/>
            <a:ext cx="2518286" cy="5377301"/>
          </a:xfrm>
          <a:prstGeom prst="rect">
            <a:avLst/>
          </a:prstGeom>
          <a:noFill/>
          <a:ln w="2222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45D39EE-455B-40CB-B70D-6A007CEF6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86" y="1648916"/>
            <a:ext cx="800591" cy="97463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8B932DF-6F86-4397-9182-F61812322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07" y="1648916"/>
            <a:ext cx="1151688" cy="89962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467B445-0286-496E-B4C9-245F3113F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387" y="1395339"/>
            <a:ext cx="1175569" cy="370326"/>
          </a:xfrm>
          <a:prstGeom prst="rect">
            <a:avLst/>
          </a:prstGeom>
        </p:spPr>
      </p:pic>
      <p:sp>
        <p:nvSpPr>
          <p:cNvPr id="22" name="四角形: メモ 21">
            <a:extLst>
              <a:ext uri="{FF2B5EF4-FFF2-40B4-BE49-F238E27FC236}">
                <a16:creationId xmlns:a16="http://schemas.microsoft.com/office/drawing/2014/main" id="{4F9EB476-2EE9-48CC-9077-C6ED74FE5CDA}"/>
              </a:ext>
            </a:extLst>
          </p:cNvPr>
          <p:cNvSpPr/>
          <p:nvPr/>
        </p:nvSpPr>
        <p:spPr>
          <a:xfrm>
            <a:off x="441005" y="3084729"/>
            <a:ext cx="580221" cy="64934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DOCX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四角形: メモ 15">
            <a:extLst>
              <a:ext uri="{FF2B5EF4-FFF2-40B4-BE49-F238E27FC236}">
                <a16:creationId xmlns:a16="http://schemas.microsoft.com/office/drawing/2014/main" id="{789F1654-C4FC-49EC-B7A1-5A8E49B5805C}"/>
              </a:ext>
            </a:extLst>
          </p:cNvPr>
          <p:cNvSpPr/>
          <p:nvPr/>
        </p:nvSpPr>
        <p:spPr>
          <a:xfrm>
            <a:off x="663639" y="3278568"/>
            <a:ext cx="580221" cy="64934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MD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四角形: メモ 22">
            <a:extLst>
              <a:ext uri="{FF2B5EF4-FFF2-40B4-BE49-F238E27FC236}">
                <a16:creationId xmlns:a16="http://schemas.microsoft.com/office/drawing/2014/main" id="{20892867-99EB-477B-A06A-44228AA8DE1B}"/>
              </a:ext>
            </a:extLst>
          </p:cNvPr>
          <p:cNvSpPr/>
          <p:nvPr/>
        </p:nvSpPr>
        <p:spPr>
          <a:xfrm>
            <a:off x="842166" y="3483222"/>
            <a:ext cx="580221" cy="64934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PDF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E7065FB-36FB-48CA-8951-B5F4025775FC}"/>
              </a:ext>
            </a:extLst>
          </p:cNvPr>
          <p:cNvSpPr txBox="1"/>
          <p:nvPr/>
        </p:nvSpPr>
        <p:spPr>
          <a:xfrm>
            <a:off x="412763" y="131791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ユーザー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CC47E11-40E0-4E36-B7A5-F84B9EB9BADE}"/>
              </a:ext>
            </a:extLst>
          </p:cNvPr>
          <p:cNvSpPr txBox="1"/>
          <p:nvPr/>
        </p:nvSpPr>
        <p:spPr>
          <a:xfrm>
            <a:off x="2091781" y="895655"/>
            <a:ext cx="2020388" cy="307777"/>
          </a:xfrm>
          <a:prstGeom prst="rect">
            <a:avLst/>
          </a:prstGeom>
          <a:solidFill>
            <a:srgbClr val="B2D69A"/>
          </a:solidFill>
        </p:spPr>
        <p:txBody>
          <a:bodyPr wrap="square" rtlCol="0">
            <a:spAutoFit/>
          </a:bodyPr>
          <a:lstStyle/>
          <a:p>
            <a:r>
              <a:rPr lang="ja-JP" altLang="en-US" sz="1400" b="1" dirty="0"/>
              <a:t>プレゼンテーション層</a:t>
            </a:r>
            <a:endParaRPr kumimoji="1" lang="en-US" altLang="ja-JP" sz="1400" b="1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4F4FC72-CD29-4D66-BAC2-DB6C0B767444}"/>
              </a:ext>
            </a:extLst>
          </p:cNvPr>
          <p:cNvSpPr txBox="1"/>
          <p:nvPr/>
        </p:nvSpPr>
        <p:spPr>
          <a:xfrm>
            <a:off x="2025523" y="1934124"/>
            <a:ext cx="187743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登録系：</a:t>
            </a:r>
            <a:br>
              <a:rPr lang="en-US" altLang="ja-JP" sz="1200" b="1" dirty="0"/>
            </a:br>
            <a:r>
              <a:rPr lang="ja-JP" altLang="en-US" sz="1200" dirty="0"/>
              <a:t>・社内文書アップロード</a:t>
            </a:r>
            <a:br>
              <a:rPr lang="en-US" altLang="ja-JP" sz="1200" dirty="0"/>
            </a:br>
            <a:r>
              <a:rPr lang="ja-JP" altLang="en-US" sz="1200" dirty="0"/>
              <a:t>　（</a:t>
            </a:r>
            <a:r>
              <a:rPr lang="en-US" altLang="ja-JP" sz="1200" dirty="0"/>
              <a:t>MD/DOCX/PDF</a:t>
            </a:r>
            <a:r>
              <a:rPr lang="ja-JP" altLang="en-US" sz="1200" dirty="0"/>
              <a:t>）</a:t>
            </a:r>
            <a:br>
              <a:rPr lang="en-US" altLang="ja-JP" sz="1200" dirty="0"/>
            </a:br>
            <a:r>
              <a:rPr lang="ja-JP" altLang="en-US" sz="1200" dirty="0"/>
              <a:t>・</a:t>
            </a:r>
            <a:r>
              <a:rPr lang="en-US" altLang="ja-JP" sz="1200" dirty="0"/>
              <a:t>Google Drive</a:t>
            </a:r>
            <a:br>
              <a:rPr lang="en-US" altLang="ja-JP" sz="1200" dirty="0"/>
            </a:br>
            <a:r>
              <a:rPr lang="ja-JP" altLang="en-US" sz="1200" dirty="0"/>
              <a:t>・外部リンク</a:t>
            </a:r>
            <a:br>
              <a:rPr lang="en-US" altLang="ja-JP" sz="1200" dirty="0"/>
            </a:br>
            <a:endParaRPr lang="en-US" altLang="ja-JP" sz="400" dirty="0"/>
          </a:p>
          <a:p>
            <a:r>
              <a:rPr lang="ja-JP" altLang="en-US" sz="1200" b="1" dirty="0"/>
              <a:t>検索系：</a:t>
            </a:r>
            <a:br>
              <a:rPr lang="en-US" altLang="ja-JP" sz="1200" b="1" dirty="0"/>
            </a:br>
            <a:r>
              <a:rPr lang="ja-JP" altLang="en-US" sz="1200" b="1" dirty="0"/>
              <a:t>・</a:t>
            </a:r>
            <a:r>
              <a:rPr lang="ja-JP" altLang="en-US" sz="1200" dirty="0"/>
              <a:t>一覧</a:t>
            </a:r>
            <a:br>
              <a:rPr lang="en-US" altLang="ja-JP" sz="1200" dirty="0"/>
            </a:br>
            <a:r>
              <a:rPr lang="ja-JP" altLang="en-US" sz="1200" dirty="0"/>
              <a:t>・キーワード</a:t>
            </a:r>
            <a:br>
              <a:rPr lang="en-US" altLang="ja-JP" sz="1200" dirty="0"/>
            </a:br>
            <a:r>
              <a:rPr lang="ja-JP" altLang="en-US" sz="1200" dirty="0"/>
              <a:t>・カテゴリ</a:t>
            </a:r>
            <a:br>
              <a:rPr lang="en-US" altLang="ja-JP" sz="1200" dirty="0"/>
            </a:br>
            <a:r>
              <a:rPr lang="ja-JP" altLang="en-US" sz="1200" dirty="0"/>
              <a:t>・タグ</a:t>
            </a:r>
            <a:br>
              <a:rPr lang="en-US" altLang="ja-JP" sz="1200" dirty="0"/>
            </a:br>
            <a:r>
              <a:rPr lang="ja-JP" altLang="en-US" sz="1200" dirty="0"/>
              <a:t>・複合条件</a:t>
            </a:r>
            <a:br>
              <a:rPr lang="en-US" altLang="ja-JP" sz="1200" dirty="0"/>
            </a:br>
            <a:br>
              <a:rPr lang="en-US" altLang="ja-JP" sz="400" dirty="0"/>
            </a:br>
            <a:r>
              <a:rPr lang="ja-JP" altLang="en-US" sz="1200" b="1" dirty="0"/>
              <a:t>閲覧系：</a:t>
            </a:r>
            <a:br>
              <a:rPr lang="en-US" altLang="ja-JP" sz="1200" b="1" dirty="0"/>
            </a:br>
            <a:r>
              <a:rPr lang="ja-JP" altLang="en-US" sz="1200" dirty="0"/>
              <a:t>・本文</a:t>
            </a:r>
            <a:br>
              <a:rPr lang="en-US" altLang="ja-JP" sz="1200" dirty="0"/>
            </a:br>
            <a:r>
              <a:rPr lang="ja-JP" altLang="en-US" sz="1200" dirty="0"/>
              <a:t>・メタデータ</a:t>
            </a:r>
            <a:br>
              <a:rPr lang="en-US" altLang="ja-JP" sz="1200" dirty="0"/>
            </a:br>
            <a:r>
              <a:rPr lang="ja-JP" altLang="en-US" sz="1200" dirty="0"/>
              <a:t>・関連ドキュメント</a:t>
            </a:r>
            <a:br>
              <a:rPr lang="en-US" altLang="ja-JP" sz="1200" dirty="0"/>
            </a:br>
            <a:r>
              <a:rPr lang="ja-JP" altLang="en-US" sz="1200" dirty="0"/>
              <a:t>・外部リンク</a:t>
            </a:r>
            <a:br>
              <a:rPr lang="en-US" altLang="ja-JP" sz="1200" dirty="0"/>
            </a:br>
            <a:br>
              <a:rPr lang="en-US" altLang="ja-JP" sz="400" dirty="0"/>
            </a:br>
            <a:r>
              <a:rPr lang="ja-JP" altLang="en-US" sz="1200" b="1" dirty="0"/>
              <a:t>探索系：</a:t>
            </a:r>
            <a:br>
              <a:rPr lang="en-US" altLang="ja-JP" sz="1200" b="1" dirty="0"/>
            </a:br>
            <a:r>
              <a:rPr lang="ja-JP" altLang="en-US" sz="1200" b="1" dirty="0"/>
              <a:t>・</a:t>
            </a:r>
            <a:r>
              <a:rPr lang="ja-JP" altLang="en-US" sz="1200" dirty="0"/>
              <a:t>グラフビュー</a:t>
            </a:r>
            <a:br>
              <a:rPr lang="en-US" altLang="ja-JP" sz="1200" dirty="0"/>
            </a:br>
            <a:r>
              <a:rPr lang="ja-JP" altLang="en-US" sz="1200" dirty="0"/>
              <a:t>・概念検索</a:t>
            </a:r>
            <a:br>
              <a:rPr lang="en-US" altLang="ja-JP" sz="1200" dirty="0"/>
            </a:br>
            <a:br>
              <a:rPr lang="en-US" altLang="ja-JP" sz="400" dirty="0"/>
            </a:br>
            <a:r>
              <a:rPr lang="ja-JP" altLang="en-US" sz="1200" b="1" dirty="0"/>
              <a:t>管理系：</a:t>
            </a:r>
            <a:br>
              <a:rPr lang="en-US" altLang="ja-JP" sz="1200" b="1" dirty="0"/>
            </a:br>
            <a:r>
              <a:rPr lang="ja-JP" altLang="en-US" sz="1200" b="1" dirty="0"/>
              <a:t>・</a:t>
            </a:r>
            <a:r>
              <a:rPr lang="ja-JP" altLang="en-US" sz="1200" dirty="0"/>
              <a:t>ブックマーク</a:t>
            </a:r>
            <a:br>
              <a:rPr lang="en-US" altLang="ja-JP" sz="1200" dirty="0"/>
            </a:br>
            <a:r>
              <a:rPr lang="ja-JP" altLang="en-US" sz="1200" dirty="0"/>
              <a:t>・閲覧履歴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3737CC-F894-4ED2-8EEF-79E3FBC132D2}"/>
              </a:ext>
            </a:extLst>
          </p:cNvPr>
          <p:cNvSpPr txBox="1"/>
          <p:nvPr/>
        </p:nvSpPr>
        <p:spPr>
          <a:xfrm>
            <a:off x="177984" y="2773107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（社内文書）</a:t>
            </a:r>
            <a:endParaRPr kumimoji="1" lang="ja-JP" altLang="en-US" b="1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629F777-8FE4-41EE-BBB3-E9C62D80F308}"/>
              </a:ext>
            </a:extLst>
          </p:cNvPr>
          <p:cNvSpPr/>
          <p:nvPr/>
        </p:nvSpPr>
        <p:spPr>
          <a:xfrm>
            <a:off x="4610067" y="1052022"/>
            <a:ext cx="2518286" cy="5377301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4993824-7864-459F-B1EE-6A612C1AE582}"/>
              </a:ext>
            </a:extLst>
          </p:cNvPr>
          <p:cNvSpPr txBox="1"/>
          <p:nvPr/>
        </p:nvSpPr>
        <p:spPr>
          <a:xfrm>
            <a:off x="4898959" y="882745"/>
            <a:ext cx="1834490" cy="307777"/>
          </a:xfrm>
          <a:prstGeom prst="rect">
            <a:avLst/>
          </a:prstGeom>
          <a:solidFill>
            <a:srgbClr val="F3A671"/>
          </a:solidFill>
        </p:spPr>
        <p:txBody>
          <a:bodyPr wrap="square" rtlCol="0" anchor="ctr" anchorCtr="0">
            <a:spAutoFit/>
          </a:bodyPr>
          <a:lstStyle/>
          <a:p>
            <a:r>
              <a:rPr lang="ja-JP" altLang="en-US" sz="1400" b="1" dirty="0"/>
              <a:t>アプリケーション層</a:t>
            </a:r>
            <a:endParaRPr kumimoji="1" lang="en-US" altLang="ja-JP" sz="1400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37E3BEB-1893-41C6-8559-D16D537768B8}"/>
              </a:ext>
            </a:extLst>
          </p:cNvPr>
          <p:cNvSpPr txBox="1"/>
          <p:nvPr/>
        </p:nvSpPr>
        <p:spPr>
          <a:xfrm>
            <a:off x="4713061" y="1712349"/>
            <a:ext cx="25182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/>
              <a:t>API</a:t>
            </a:r>
            <a:r>
              <a:rPr lang="ja-JP" altLang="en-US" sz="1200" b="1" dirty="0"/>
              <a:t>系（</a:t>
            </a:r>
            <a:r>
              <a:rPr lang="en-US" altLang="ja-JP" sz="1200" b="1" dirty="0"/>
              <a:t>Workers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・一覧、検索、絞り込み</a:t>
            </a:r>
          </a:p>
          <a:p>
            <a:r>
              <a:rPr lang="ja-JP" altLang="en-US" sz="1200" dirty="0"/>
              <a:t>・ドキュメント詳細取得</a:t>
            </a:r>
          </a:p>
          <a:p>
            <a:r>
              <a:rPr lang="ja-JP" altLang="en-US" sz="1200" dirty="0"/>
              <a:t>・グラフ探索</a:t>
            </a:r>
          </a:p>
          <a:p>
            <a:r>
              <a:rPr lang="ja-JP" altLang="en-US" sz="1200" dirty="0"/>
              <a:t>・ブックマーク、閲覧履歴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インポート系（</a:t>
            </a:r>
            <a:r>
              <a:rPr lang="en-US" altLang="ja-JP" sz="1200" b="1" dirty="0"/>
              <a:t>Cloud Run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・ファイル取得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Markdown</a:t>
            </a:r>
            <a:r>
              <a:rPr lang="ja-JP" altLang="en-US" sz="1200" dirty="0"/>
              <a:t>変換</a:t>
            </a:r>
          </a:p>
          <a:p>
            <a:r>
              <a:rPr lang="ja-JP" altLang="en-US" sz="1200" dirty="0"/>
              <a:t>・ストレージ保存・</a:t>
            </a:r>
            <a:r>
              <a:rPr lang="en-US" altLang="ja-JP" sz="1200" dirty="0"/>
              <a:t>DB</a:t>
            </a:r>
            <a:r>
              <a:rPr lang="ja-JP" altLang="en-US" sz="1200" dirty="0"/>
              <a:t>登録</a:t>
            </a:r>
          </a:p>
          <a:p>
            <a:endParaRPr lang="ja-JP" altLang="en-US" sz="1200" dirty="0"/>
          </a:p>
          <a:p>
            <a:r>
              <a:rPr lang="en-US" altLang="ja-JP" sz="1200" b="1" dirty="0"/>
              <a:t>AI</a:t>
            </a:r>
            <a:r>
              <a:rPr lang="ja-JP" altLang="en-US" sz="1200" b="1" dirty="0"/>
              <a:t>系（</a:t>
            </a:r>
            <a:r>
              <a:rPr lang="en-US" altLang="ja-JP" sz="1200" b="1" dirty="0"/>
              <a:t>Cloud Run+ API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・要約生成</a:t>
            </a:r>
          </a:p>
          <a:p>
            <a:r>
              <a:rPr lang="ja-JP" altLang="en-US" sz="1200" dirty="0"/>
              <a:t>・概念抽出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外部連携系（</a:t>
            </a:r>
            <a:r>
              <a:rPr lang="en-US" altLang="ja-JP" sz="1200" b="1" dirty="0"/>
              <a:t>Cloud Run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Google Drive</a:t>
            </a:r>
            <a:r>
              <a:rPr lang="ja-JP" altLang="en-US" sz="1200" dirty="0"/>
              <a:t>連携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Webhook</a:t>
            </a:r>
            <a:r>
              <a:rPr lang="ja-JP" altLang="en-US" sz="1200" dirty="0"/>
              <a:t>受け付け（将来）</a:t>
            </a:r>
          </a:p>
          <a:p>
            <a:endParaRPr kumimoji="1" lang="ja-JP" altLang="en-US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DE33622-0761-4B42-9382-611AE78FC92F}"/>
              </a:ext>
            </a:extLst>
          </p:cNvPr>
          <p:cNvSpPr/>
          <p:nvPr/>
        </p:nvSpPr>
        <p:spPr>
          <a:xfrm>
            <a:off x="7334343" y="1052022"/>
            <a:ext cx="4570276" cy="5377301"/>
          </a:xfrm>
          <a:custGeom>
            <a:avLst/>
            <a:gdLst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61235 w 2161235"/>
              <a:gd name="connsiteY2" fmla="*/ 5377301 h 5377301"/>
              <a:gd name="connsiteX3" fmla="*/ 0 w 2161235"/>
              <a:gd name="connsiteY3" fmla="*/ 5377301 h 5377301"/>
              <a:gd name="connsiteX4" fmla="*/ 0 w 2161235"/>
              <a:gd name="connsiteY4" fmla="*/ 0 h 5377301"/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52526 w 2161235"/>
              <a:gd name="connsiteY2" fmla="*/ 1750028 h 5377301"/>
              <a:gd name="connsiteX3" fmla="*/ 2161235 w 2161235"/>
              <a:gd name="connsiteY3" fmla="*/ 5377301 h 5377301"/>
              <a:gd name="connsiteX4" fmla="*/ 0 w 2161235"/>
              <a:gd name="connsiteY4" fmla="*/ 5377301 h 5377301"/>
              <a:gd name="connsiteX5" fmla="*/ 0 w 2161235"/>
              <a:gd name="connsiteY5" fmla="*/ 0 h 5377301"/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52526 w 2161235"/>
              <a:gd name="connsiteY2" fmla="*/ 1750028 h 5377301"/>
              <a:gd name="connsiteX3" fmla="*/ 2159570 w 2161235"/>
              <a:gd name="connsiteY3" fmla="*/ 3877029 h 5377301"/>
              <a:gd name="connsiteX4" fmla="*/ 2161235 w 2161235"/>
              <a:gd name="connsiteY4" fmla="*/ 5377301 h 5377301"/>
              <a:gd name="connsiteX5" fmla="*/ 0 w 2161235"/>
              <a:gd name="connsiteY5" fmla="*/ 5377301 h 5377301"/>
              <a:gd name="connsiteX6" fmla="*/ 0 w 2161235"/>
              <a:gd name="connsiteY6" fmla="*/ 0 h 5377301"/>
              <a:gd name="connsiteX0" fmla="*/ 0 w 2664139"/>
              <a:gd name="connsiteY0" fmla="*/ 0 h 5377301"/>
              <a:gd name="connsiteX1" fmla="*/ 2161235 w 2664139"/>
              <a:gd name="connsiteY1" fmla="*/ 0 h 5377301"/>
              <a:gd name="connsiteX2" fmla="*/ 2152526 w 2664139"/>
              <a:gd name="connsiteY2" fmla="*/ 1750028 h 5377301"/>
              <a:gd name="connsiteX3" fmla="*/ 2664139 w 2664139"/>
              <a:gd name="connsiteY3" fmla="*/ 4042491 h 5377301"/>
              <a:gd name="connsiteX4" fmla="*/ 2161235 w 2664139"/>
              <a:gd name="connsiteY4" fmla="*/ 5377301 h 5377301"/>
              <a:gd name="connsiteX5" fmla="*/ 0 w 2664139"/>
              <a:gd name="connsiteY5" fmla="*/ 5377301 h 5377301"/>
              <a:gd name="connsiteX6" fmla="*/ 0 w 2664139"/>
              <a:gd name="connsiteY6" fmla="*/ 0 h 5377301"/>
              <a:gd name="connsiteX0" fmla="*/ 0 w 2664139"/>
              <a:gd name="connsiteY0" fmla="*/ 0 h 5377301"/>
              <a:gd name="connsiteX1" fmla="*/ 2161235 w 2664139"/>
              <a:gd name="connsiteY1" fmla="*/ 0 h 5377301"/>
              <a:gd name="connsiteX2" fmla="*/ 2152526 w 2664139"/>
              <a:gd name="connsiteY2" fmla="*/ 1750028 h 5377301"/>
              <a:gd name="connsiteX3" fmla="*/ 2378215 w 2664139"/>
              <a:gd name="connsiteY3" fmla="*/ 2858127 h 5377301"/>
              <a:gd name="connsiteX4" fmla="*/ 2664139 w 2664139"/>
              <a:gd name="connsiteY4" fmla="*/ 4042491 h 5377301"/>
              <a:gd name="connsiteX5" fmla="*/ 2161235 w 2664139"/>
              <a:gd name="connsiteY5" fmla="*/ 5377301 h 5377301"/>
              <a:gd name="connsiteX6" fmla="*/ 0 w 2664139"/>
              <a:gd name="connsiteY6" fmla="*/ 5377301 h 5377301"/>
              <a:gd name="connsiteX7" fmla="*/ 0 w 2664139"/>
              <a:gd name="connsiteY7" fmla="*/ 0 h 5377301"/>
              <a:gd name="connsiteX0" fmla="*/ 0 w 2664139"/>
              <a:gd name="connsiteY0" fmla="*/ 0 h 5377301"/>
              <a:gd name="connsiteX1" fmla="*/ 2161235 w 2664139"/>
              <a:gd name="connsiteY1" fmla="*/ 0 h 5377301"/>
              <a:gd name="connsiteX2" fmla="*/ 2152526 w 2664139"/>
              <a:gd name="connsiteY2" fmla="*/ 1750028 h 5377301"/>
              <a:gd name="connsiteX3" fmla="*/ 2159569 w 2664139"/>
              <a:gd name="connsiteY3" fmla="*/ 3929281 h 5377301"/>
              <a:gd name="connsiteX4" fmla="*/ 2664139 w 2664139"/>
              <a:gd name="connsiteY4" fmla="*/ 4042491 h 5377301"/>
              <a:gd name="connsiteX5" fmla="*/ 2161235 w 2664139"/>
              <a:gd name="connsiteY5" fmla="*/ 5377301 h 5377301"/>
              <a:gd name="connsiteX6" fmla="*/ 0 w 2664139"/>
              <a:gd name="connsiteY6" fmla="*/ 5377301 h 5377301"/>
              <a:gd name="connsiteX7" fmla="*/ 0 w 2664139"/>
              <a:gd name="connsiteY7" fmla="*/ 0 h 5377301"/>
              <a:gd name="connsiteX0" fmla="*/ 0 w 2664139"/>
              <a:gd name="connsiteY0" fmla="*/ 0 h 5377301"/>
              <a:gd name="connsiteX1" fmla="*/ 2161235 w 2664139"/>
              <a:gd name="connsiteY1" fmla="*/ 0 h 5377301"/>
              <a:gd name="connsiteX2" fmla="*/ 2152526 w 2664139"/>
              <a:gd name="connsiteY2" fmla="*/ 1750028 h 5377301"/>
              <a:gd name="connsiteX3" fmla="*/ 2167979 w 2664139"/>
              <a:gd name="connsiteY3" fmla="*/ 4059909 h 5377301"/>
              <a:gd name="connsiteX4" fmla="*/ 2664139 w 2664139"/>
              <a:gd name="connsiteY4" fmla="*/ 4042491 h 5377301"/>
              <a:gd name="connsiteX5" fmla="*/ 2161235 w 2664139"/>
              <a:gd name="connsiteY5" fmla="*/ 5377301 h 5377301"/>
              <a:gd name="connsiteX6" fmla="*/ 0 w 2664139"/>
              <a:gd name="connsiteY6" fmla="*/ 5377301 h 5377301"/>
              <a:gd name="connsiteX7" fmla="*/ 0 w 2664139"/>
              <a:gd name="connsiteY7" fmla="*/ 0 h 5377301"/>
              <a:gd name="connsiteX0" fmla="*/ 0 w 4329215"/>
              <a:gd name="connsiteY0" fmla="*/ 0 h 5377301"/>
              <a:gd name="connsiteX1" fmla="*/ 2161235 w 4329215"/>
              <a:gd name="connsiteY1" fmla="*/ 0 h 5377301"/>
              <a:gd name="connsiteX2" fmla="*/ 2152526 w 4329215"/>
              <a:gd name="connsiteY2" fmla="*/ 1750028 h 5377301"/>
              <a:gd name="connsiteX3" fmla="*/ 2167979 w 4329215"/>
              <a:gd name="connsiteY3" fmla="*/ 4059909 h 5377301"/>
              <a:gd name="connsiteX4" fmla="*/ 4329215 w 4329215"/>
              <a:gd name="connsiteY4" fmla="*/ 4059908 h 5377301"/>
              <a:gd name="connsiteX5" fmla="*/ 2161235 w 4329215"/>
              <a:gd name="connsiteY5" fmla="*/ 5377301 h 5377301"/>
              <a:gd name="connsiteX6" fmla="*/ 0 w 4329215"/>
              <a:gd name="connsiteY6" fmla="*/ 5377301 h 5377301"/>
              <a:gd name="connsiteX7" fmla="*/ 0 w 4329215"/>
              <a:gd name="connsiteY7" fmla="*/ 0 h 5377301"/>
              <a:gd name="connsiteX0" fmla="*/ 0 w 4329215"/>
              <a:gd name="connsiteY0" fmla="*/ 0 h 5377301"/>
              <a:gd name="connsiteX1" fmla="*/ 2161235 w 4329215"/>
              <a:gd name="connsiteY1" fmla="*/ 0 h 5377301"/>
              <a:gd name="connsiteX2" fmla="*/ 2152526 w 4329215"/>
              <a:gd name="connsiteY2" fmla="*/ 1750028 h 5377301"/>
              <a:gd name="connsiteX3" fmla="*/ 2167979 w 4329215"/>
              <a:gd name="connsiteY3" fmla="*/ 4059909 h 5377301"/>
              <a:gd name="connsiteX4" fmla="*/ 4329215 w 4329215"/>
              <a:gd name="connsiteY4" fmla="*/ 4059908 h 5377301"/>
              <a:gd name="connsiteX5" fmla="*/ 2395034 w 4329215"/>
              <a:gd name="connsiteY5" fmla="*/ 5226858 h 5377301"/>
              <a:gd name="connsiteX6" fmla="*/ 2161235 w 4329215"/>
              <a:gd name="connsiteY6" fmla="*/ 5377301 h 5377301"/>
              <a:gd name="connsiteX7" fmla="*/ 0 w 4329215"/>
              <a:gd name="connsiteY7" fmla="*/ 5377301 h 5377301"/>
              <a:gd name="connsiteX8" fmla="*/ 0 w 4329215"/>
              <a:gd name="connsiteY8" fmla="*/ 0 h 5377301"/>
              <a:gd name="connsiteX0" fmla="*/ 0 w 4413308"/>
              <a:gd name="connsiteY0" fmla="*/ 0 h 5377301"/>
              <a:gd name="connsiteX1" fmla="*/ 2161235 w 4413308"/>
              <a:gd name="connsiteY1" fmla="*/ 0 h 5377301"/>
              <a:gd name="connsiteX2" fmla="*/ 2152526 w 4413308"/>
              <a:gd name="connsiteY2" fmla="*/ 1750028 h 5377301"/>
              <a:gd name="connsiteX3" fmla="*/ 2167979 w 4413308"/>
              <a:gd name="connsiteY3" fmla="*/ 4059909 h 5377301"/>
              <a:gd name="connsiteX4" fmla="*/ 4329215 w 4413308"/>
              <a:gd name="connsiteY4" fmla="*/ 4059908 h 5377301"/>
              <a:gd name="connsiteX5" fmla="*/ 4413308 w 4413308"/>
              <a:gd name="connsiteY5" fmla="*/ 5357486 h 5377301"/>
              <a:gd name="connsiteX6" fmla="*/ 2161235 w 4413308"/>
              <a:gd name="connsiteY6" fmla="*/ 5377301 h 5377301"/>
              <a:gd name="connsiteX7" fmla="*/ 0 w 4413308"/>
              <a:gd name="connsiteY7" fmla="*/ 5377301 h 5377301"/>
              <a:gd name="connsiteX8" fmla="*/ 0 w 4413308"/>
              <a:gd name="connsiteY8" fmla="*/ 0 h 5377301"/>
              <a:gd name="connsiteX0" fmla="*/ 0 w 4438538"/>
              <a:gd name="connsiteY0" fmla="*/ 0 h 5377301"/>
              <a:gd name="connsiteX1" fmla="*/ 2161235 w 4438538"/>
              <a:gd name="connsiteY1" fmla="*/ 0 h 5377301"/>
              <a:gd name="connsiteX2" fmla="*/ 2152526 w 4438538"/>
              <a:gd name="connsiteY2" fmla="*/ 1750028 h 5377301"/>
              <a:gd name="connsiteX3" fmla="*/ 2167979 w 4438538"/>
              <a:gd name="connsiteY3" fmla="*/ 4059909 h 5377301"/>
              <a:gd name="connsiteX4" fmla="*/ 4438538 w 4438538"/>
              <a:gd name="connsiteY4" fmla="*/ 4094742 h 5377301"/>
              <a:gd name="connsiteX5" fmla="*/ 4413308 w 4438538"/>
              <a:gd name="connsiteY5" fmla="*/ 5357486 h 5377301"/>
              <a:gd name="connsiteX6" fmla="*/ 2161235 w 4438538"/>
              <a:gd name="connsiteY6" fmla="*/ 5377301 h 5377301"/>
              <a:gd name="connsiteX7" fmla="*/ 0 w 4438538"/>
              <a:gd name="connsiteY7" fmla="*/ 5377301 h 5377301"/>
              <a:gd name="connsiteX8" fmla="*/ 0 w 4438538"/>
              <a:gd name="connsiteY8" fmla="*/ 0 h 5377301"/>
              <a:gd name="connsiteX0" fmla="*/ 0 w 4438538"/>
              <a:gd name="connsiteY0" fmla="*/ 0 h 5377301"/>
              <a:gd name="connsiteX1" fmla="*/ 2161235 w 4438538"/>
              <a:gd name="connsiteY1" fmla="*/ 0 h 5377301"/>
              <a:gd name="connsiteX2" fmla="*/ 2152526 w 4438538"/>
              <a:gd name="connsiteY2" fmla="*/ 1750028 h 5377301"/>
              <a:gd name="connsiteX3" fmla="*/ 2167979 w 4438538"/>
              <a:gd name="connsiteY3" fmla="*/ 3955406 h 5377301"/>
              <a:gd name="connsiteX4" fmla="*/ 4438538 w 4438538"/>
              <a:gd name="connsiteY4" fmla="*/ 4094742 h 5377301"/>
              <a:gd name="connsiteX5" fmla="*/ 4413308 w 4438538"/>
              <a:gd name="connsiteY5" fmla="*/ 5357486 h 5377301"/>
              <a:gd name="connsiteX6" fmla="*/ 2161235 w 4438538"/>
              <a:gd name="connsiteY6" fmla="*/ 5377301 h 5377301"/>
              <a:gd name="connsiteX7" fmla="*/ 0 w 4438538"/>
              <a:gd name="connsiteY7" fmla="*/ 5377301 h 5377301"/>
              <a:gd name="connsiteX8" fmla="*/ 0 w 4438538"/>
              <a:gd name="connsiteY8" fmla="*/ 0 h 5377301"/>
              <a:gd name="connsiteX0" fmla="*/ 0 w 4472176"/>
              <a:gd name="connsiteY0" fmla="*/ 0 h 5377301"/>
              <a:gd name="connsiteX1" fmla="*/ 2161235 w 4472176"/>
              <a:gd name="connsiteY1" fmla="*/ 0 h 5377301"/>
              <a:gd name="connsiteX2" fmla="*/ 2152526 w 4472176"/>
              <a:gd name="connsiteY2" fmla="*/ 1750028 h 5377301"/>
              <a:gd name="connsiteX3" fmla="*/ 2167979 w 4472176"/>
              <a:gd name="connsiteY3" fmla="*/ 3955406 h 5377301"/>
              <a:gd name="connsiteX4" fmla="*/ 4472176 w 4472176"/>
              <a:gd name="connsiteY4" fmla="*/ 3972822 h 5377301"/>
              <a:gd name="connsiteX5" fmla="*/ 4413308 w 4472176"/>
              <a:gd name="connsiteY5" fmla="*/ 5357486 h 5377301"/>
              <a:gd name="connsiteX6" fmla="*/ 2161235 w 4472176"/>
              <a:gd name="connsiteY6" fmla="*/ 5377301 h 5377301"/>
              <a:gd name="connsiteX7" fmla="*/ 0 w 4472176"/>
              <a:gd name="connsiteY7" fmla="*/ 5377301 h 5377301"/>
              <a:gd name="connsiteX8" fmla="*/ 0 w 4472176"/>
              <a:gd name="connsiteY8" fmla="*/ 0 h 5377301"/>
              <a:gd name="connsiteX0" fmla="*/ 0 w 4413310"/>
              <a:gd name="connsiteY0" fmla="*/ 0 h 5377301"/>
              <a:gd name="connsiteX1" fmla="*/ 2161235 w 4413310"/>
              <a:gd name="connsiteY1" fmla="*/ 0 h 5377301"/>
              <a:gd name="connsiteX2" fmla="*/ 2152526 w 4413310"/>
              <a:gd name="connsiteY2" fmla="*/ 1750028 h 5377301"/>
              <a:gd name="connsiteX3" fmla="*/ 2167979 w 4413310"/>
              <a:gd name="connsiteY3" fmla="*/ 3955406 h 5377301"/>
              <a:gd name="connsiteX4" fmla="*/ 4413310 w 4413310"/>
              <a:gd name="connsiteY4" fmla="*/ 3955405 h 5377301"/>
              <a:gd name="connsiteX5" fmla="*/ 4413308 w 4413310"/>
              <a:gd name="connsiteY5" fmla="*/ 5357486 h 5377301"/>
              <a:gd name="connsiteX6" fmla="*/ 2161235 w 4413310"/>
              <a:gd name="connsiteY6" fmla="*/ 5377301 h 5377301"/>
              <a:gd name="connsiteX7" fmla="*/ 0 w 4413310"/>
              <a:gd name="connsiteY7" fmla="*/ 5377301 h 5377301"/>
              <a:gd name="connsiteX8" fmla="*/ 0 w 4413310"/>
              <a:gd name="connsiteY8" fmla="*/ 0 h 5377301"/>
              <a:gd name="connsiteX0" fmla="*/ 0 w 4413310"/>
              <a:gd name="connsiteY0" fmla="*/ 0 h 5377301"/>
              <a:gd name="connsiteX1" fmla="*/ 2161235 w 4413310"/>
              <a:gd name="connsiteY1" fmla="*/ 0 h 5377301"/>
              <a:gd name="connsiteX2" fmla="*/ 2152526 w 4413310"/>
              <a:gd name="connsiteY2" fmla="*/ 1750028 h 5377301"/>
              <a:gd name="connsiteX3" fmla="*/ 2033428 w 4413310"/>
              <a:gd name="connsiteY3" fmla="*/ 3964115 h 5377301"/>
              <a:gd name="connsiteX4" fmla="*/ 4413310 w 4413310"/>
              <a:gd name="connsiteY4" fmla="*/ 3955405 h 5377301"/>
              <a:gd name="connsiteX5" fmla="*/ 4413308 w 4413310"/>
              <a:gd name="connsiteY5" fmla="*/ 5357486 h 5377301"/>
              <a:gd name="connsiteX6" fmla="*/ 2161235 w 4413310"/>
              <a:gd name="connsiteY6" fmla="*/ 5377301 h 5377301"/>
              <a:gd name="connsiteX7" fmla="*/ 0 w 4413310"/>
              <a:gd name="connsiteY7" fmla="*/ 5377301 h 5377301"/>
              <a:gd name="connsiteX8" fmla="*/ 0 w 4413310"/>
              <a:gd name="connsiteY8" fmla="*/ 0 h 5377301"/>
              <a:gd name="connsiteX0" fmla="*/ 0 w 4413310"/>
              <a:gd name="connsiteY0" fmla="*/ 0 h 5377301"/>
              <a:gd name="connsiteX1" fmla="*/ 2161235 w 4413310"/>
              <a:gd name="connsiteY1" fmla="*/ 0 h 5377301"/>
              <a:gd name="connsiteX2" fmla="*/ 2033428 w 4413310"/>
              <a:gd name="connsiteY2" fmla="*/ 3964115 h 5377301"/>
              <a:gd name="connsiteX3" fmla="*/ 4413310 w 4413310"/>
              <a:gd name="connsiteY3" fmla="*/ 3955405 h 5377301"/>
              <a:gd name="connsiteX4" fmla="*/ 4413308 w 4413310"/>
              <a:gd name="connsiteY4" fmla="*/ 5357486 h 5377301"/>
              <a:gd name="connsiteX5" fmla="*/ 2161235 w 4413310"/>
              <a:gd name="connsiteY5" fmla="*/ 5377301 h 5377301"/>
              <a:gd name="connsiteX6" fmla="*/ 0 w 4413310"/>
              <a:gd name="connsiteY6" fmla="*/ 5377301 h 5377301"/>
              <a:gd name="connsiteX7" fmla="*/ 0 w 4413310"/>
              <a:gd name="connsiteY7" fmla="*/ 0 h 5377301"/>
              <a:gd name="connsiteX0" fmla="*/ 0 w 4413310"/>
              <a:gd name="connsiteY0" fmla="*/ 0 h 5377301"/>
              <a:gd name="connsiteX1" fmla="*/ 2018275 w 4413310"/>
              <a:gd name="connsiteY1" fmla="*/ 0 h 5377301"/>
              <a:gd name="connsiteX2" fmla="*/ 2033428 w 4413310"/>
              <a:gd name="connsiteY2" fmla="*/ 3964115 h 5377301"/>
              <a:gd name="connsiteX3" fmla="*/ 4413310 w 4413310"/>
              <a:gd name="connsiteY3" fmla="*/ 3955405 h 5377301"/>
              <a:gd name="connsiteX4" fmla="*/ 4413308 w 4413310"/>
              <a:gd name="connsiteY4" fmla="*/ 5357486 h 5377301"/>
              <a:gd name="connsiteX5" fmla="*/ 2161235 w 4413310"/>
              <a:gd name="connsiteY5" fmla="*/ 5377301 h 5377301"/>
              <a:gd name="connsiteX6" fmla="*/ 0 w 4413310"/>
              <a:gd name="connsiteY6" fmla="*/ 5377301 h 5377301"/>
              <a:gd name="connsiteX7" fmla="*/ 0 w 4413310"/>
              <a:gd name="connsiteY7" fmla="*/ 0 h 5377301"/>
              <a:gd name="connsiteX0" fmla="*/ 0 w 4413310"/>
              <a:gd name="connsiteY0" fmla="*/ 0 h 5377301"/>
              <a:gd name="connsiteX1" fmla="*/ 2068731 w 4413310"/>
              <a:gd name="connsiteY1" fmla="*/ 0 h 5377301"/>
              <a:gd name="connsiteX2" fmla="*/ 2033428 w 4413310"/>
              <a:gd name="connsiteY2" fmla="*/ 3964115 h 5377301"/>
              <a:gd name="connsiteX3" fmla="*/ 4413310 w 4413310"/>
              <a:gd name="connsiteY3" fmla="*/ 3955405 h 5377301"/>
              <a:gd name="connsiteX4" fmla="*/ 4413308 w 4413310"/>
              <a:gd name="connsiteY4" fmla="*/ 5357486 h 5377301"/>
              <a:gd name="connsiteX5" fmla="*/ 2161235 w 4413310"/>
              <a:gd name="connsiteY5" fmla="*/ 5377301 h 5377301"/>
              <a:gd name="connsiteX6" fmla="*/ 0 w 4413310"/>
              <a:gd name="connsiteY6" fmla="*/ 5377301 h 5377301"/>
              <a:gd name="connsiteX7" fmla="*/ 0 w 4413310"/>
              <a:gd name="connsiteY7" fmla="*/ 0 h 537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13310" h="5377301">
                <a:moveTo>
                  <a:pt x="0" y="0"/>
                </a:moveTo>
                <a:lnTo>
                  <a:pt x="2068731" y="0"/>
                </a:lnTo>
                <a:lnTo>
                  <a:pt x="2033428" y="3964115"/>
                </a:lnTo>
                <a:lnTo>
                  <a:pt x="4413310" y="3955405"/>
                </a:lnTo>
                <a:cubicBezTo>
                  <a:pt x="4413309" y="4422765"/>
                  <a:pt x="4413309" y="4890126"/>
                  <a:pt x="4413308" y="5357486"/>
                </a:cubicBezTo>
                <a:lnTo>
                  <a:pt x="2161235" y="5377301"/>
                </a:lnTo>
                <a:lnTo>
                  <a:pt x="0" y="5377301"/>
                </a:lnTo>
                <a:lnTo>
                  <a:pt x="0" y="0"/>
                </a:lnTo>
                <a:close/>
              </a:path>
            </a:pathLst>
          </a:custGeom>
          <a:noFill/>
          <a:ln w="222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7FB7CAC-E116-4986-9411-6441BA5F08CD}"/>
              </a:ext>
            </a:extLst>
          </p:cNvPr>
          <p:cNvSpPr txBox="1"/>
          <p:nvPr/>
        </p:nvSpPr>
        <p:spPr>
          <a:xfrm>
            <a:off x="7700101" y="882745"/>
            <a:ext cx="1419497" cy="307777"/>
          </a:xfrm>
          <a:prstGeom prst="rect">
            <a:avLst/>
          </a:prstGeom>
          <a:solidFill>
            <a:srgbClr val="96B0DE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b="1" dirty="0"/>
              <a:t>データ層</a:t>
            </a:r>
            <a:endParaRPr kumimoji="1" lang="en-US" altLang="ja-JP" sz="1400" b="1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D13CEDA-3A2D-4C84-9D4E-1DD9DEF9BC36}"/>
              </a:ext>
            </a:extLst>
          </p:cNvPr>
          <p:cNvSpPr txBox="1"/>
          <p:nvPr/>
        </p:nvSpPr>
        <p:spPr>
          <a:xfrm>
            <a:off x="7367087" y="1551995"/>
            <a:ext cx="21612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/>
              <a:t>D1</a:t>
            </a:r>
            <a:r>
              <a:rPr lang="ja-JP" altLang="en-US" sz="1200" b="1" dirty="0"/>
              <a:t>（メタデータ</a:t>
            </a:r>
            <a:r>
              <a:rPr lang="en-US" altLang="ja-JP" sz="1200" b="1" dirty="0"/>
              <a:t>DB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・ドキュメント管理</a:t>
            </a:r>
          </a:p>
          <a:p>
            <a:r>
              <a:rPr lang="ja-JP" altLang="en-US" sz="1200" dirty="0"/>
              <a:t>・タグ</a:t>
            </a:r>
          </a:p>
          <a:p>
            <a:r>
              <a:rPr lang="ja-JP" altLang="en-US" sz="1200" dirty="0"/>
              <a:t>・カテゴリ管理</a:t>
            </a:r>
          </a:p>
          <a:p>
            <a:r>
              <a:rPr lang="ja-JP" altLang="en-US" sz="1200" dirty="0"/>
              <a:t>・外部リンク管理</a:t>
            </a:r>
          </a:p>
          <a:p>
            <a:r>
              <a:rPr lang="ja-JP" altLang="en-US" sz="1200" dirty="0"/>
              <a:t>・インポートジョブ管理</a:t>
            </a:r>
          </a:p>
          <a:p>
            <a:r>
              <a:rPr lang="ja-JP" altLang="en-US" sz="1200" dirty="0"/>
              <a:t>・ブックマーク</a:t>
            </a:r>
          </a:p>
          <a:p>
            <a:r>
              <a:rPr lang="ja-JP" altLang="en-US" sz="1200" dirty="0"/>
              <a:t>・閲覧履歴</a:t>
            </a:r>
          </a:p>
          <a:p>
            <a:r>
              <a:rPr lang="ja-JP" altLang="en-US" sz="1200" dirty="0"/>
              <a:t>・アクセス制御</a:t>
            </a:r>
          </a:p>
          <a:p>
            <a:endParaRPr lang="ja-JP" altLang="en-US" sz="1200" dirty="0"/>
          </a:p>
          <a:p>
            <a:r>
              <a:rPr lang="en-US" altLang="ja-JP" sz="1200" b="1" dirty="0"/>
              <a:t>R2</a:t>
            </a:r>
            <a:r>
              <a:rPr lang="ja-JP" altLang="en-US" sz="1200" b="1" dirty="0"/>
              <a:t>（</a:t>
            </a:r>
            <a:r>
              <a:rPr lang="en-US" altLang="ja-JP" sz="1200" dirty="0"/>
              <a:t> </a:t>
            </a:r>
            <a:r>
              <a:rPr lang="en-US" altLang="ja-JP" sz="1200" b="1" dirty="0"/>
              <a:t>File</a:t>
            </a:r>
            <a:r>
              <a:rPr lang="ja-JP" altLang="en-US" sz="1200" b="1" dirty="0"/>
              <a:t>ストレージ）：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Markdown</a:t>
            </a:r>
            <a:r>
              <a:rPr lang="ja-JP" altLang="en-US" sz="1200" dirty="0"/>
              <a:t>本文</a:t>
            </a:r>
          </a:p>
          <a:p>
            <a:r>
              <a:rPr lang="ja-JP" altLang="en-US" sz="1200" dirty="0"/>
              <a:t>・画像ファイル</a:t>
            </a:r>
          </a:p>
          <a:p>
            <a:endParaRPr lang="ja-JP" altLang="en-US" sz="1200" dirty="0"/>
          </a:p>
          <a:p>
            <a:r>
              <a:rPr lang="en-US" altLang="ja-JP" sz="1200" b="1" dirty="0"/>
              <a:t>Neo4j</a:t>
            </a:r>
            <a:r>
              <a:rPr lang="ja-JP" altLang="en-US" sz="1200" b="1" dirty="0"/>
              <a:t>（グラフ</a:t>
            </a:r>
            <a:r>
              <a:rPr lang="en-US" altLang="ja-JP" sz="1200" b="1" dirty="0"/>
              <a:t>DB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・概念ノード</a:t>
            </a:r>
          </a:p>
          <a:p>
            <a:r>
              <a:rPr lang="ja-JP" altLang="en-US" sz="1200" dirty="0"/>
              <a:t>・リレーション管理</a:t>
            </a:r>
            <a:endParaRPr lang="en-US" altLang="ja-JP" sz="1200" dirty="0"/>
          </a:p>
          <a:p>
            <a:endParaRPr lang="en-US" altLang="ja-JP" sz="1200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589AC50-D698-411F-90D8-AD2B8BA8DC13}"/>
              </a:ext>
            </a:extLst>
          </p:cNvPr>
          <p:cNvCxnSpPr>
            <a:cxnSpLocks/>
          </p:cNvCxnSpPr>
          <p:nvPr/>
        </p:nvCxnSpPr>
        <p:spPr>
          <a:xfrm>
            <a:off x="1088359" y="3084729"/>
            <a:ext cx="795311" cy="0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6DDC83FA-658E-4DD1-8874-141896333E20}"/>
              </a:ext>
            </a:extLst>
          </p:cNvPr>
          <p:cNvCxnSpPr>
            <a:cxnSpLocks/>
          </p:cNvCxnSpPr>
          <p:nvPr/>
        </p:nvCxnSpPr>
        <p:spPr>
          <a:xfrm>
            <a:off x="4103648" y="1338784"/>
            <a:ext cx="795311" cy="0"/>
          </a:xfrm>
          <a:prstGeom prst="straightConnector1">
            <a:avLst/>
          </a:prstGeom>
          <a:ln w="571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96C0771F-DF2D-4597-9803-C104A4D97167}"/>
              </a:ext>
            </a:extLst>
          </p:cNvPr>
          <p:cNvCxnSpPr>
            <a:cxnSpLocks/>
          </p:cNvCxnSpPr>
          <p:nvPr/>
        </p:nvCxnSpPr>
        <p:spPr>
          <a:xfrm>
            <a:off x="6825076" y="1338784"/>
            <a:ext cx="795311" cy="0"/>
          </a:xfrm>
          <a:prstGeom prst="straightConnector1">
            <a:avLst/>
          </a:prstGeom>
          <a:ln w="571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32">
            <a:extLst>
              <a:ext uri="{FF2B5EF4-FFF2-40B4-BE49-F238E27FC236}">
                <a16:creationId xmlns:a16="http://schemas.microsoft.com/office/drawing/2014/main" id="{68DFAB5D-D1BD-479B-936D-58B6796670D4}"/>
              </a:ext>
            </a:extLst>
          </p:cNvPr>
          <p:cNvSpPr/>
          <p:nvPr/>
        </p:nvSpPr>
        <p:spPr>
          <a:xfrm>
            <a:off x="9953481" y="4604726"/>
            <a:ext cx="2043914" cy="2008309"/>
          </a:xfrm>
          <a:custGeom>
            <a:avLst/>
            <a:gdLst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61235 w 2161235"/>
              <a:gd name="connsiteY2" fmla="*/ 5377301 h 5377301"/>
              <a:gd name="connsiteX3" fmla="*/ 0 w 2161235"/>
              <a:gd name="connsiteY3" fmla="*/ 5377301 h 5377301"/>
              <a:gd name="connsiteX4" fmla="*/ 0 w 2161235"/>
              <a:gd name="connsiteY4" fmla="*/ 0 h 5377301"/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52526 w 2161235"/>
              <a:gd name="connsiteY2" fmla="*/ 1750028 h 5377301"/>
              <a:gd name="connsiteX3" fmla="*/ 2161235 w 2161235"/>
              <a:gd name="connsiteY3" fmla="*/ 5377301 h 5377301"/>
              <a:gd name="connsiteX4" fmla="*/ 0 w 2161235"/>
              <a:gd name="connsiteY4" fmla="*/ 5377301 h 5377301"/>
              <a:gd name="connsiteX5" fmla="*/ 0 w 2161235"/>
              <a:gd name="connsiteY5" fmla="*/ 0 h 537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1235" h="5377301">
                <a:moveTo>
                  <a:pt x="0" y="0"/>
                </a:moveTo>
                <a:lnTo>
                  <a:pt x="2161235" y="0"/>
                </a:lnTo>
                <a:lnTo>
                  <a:pt x="2152526" y="1750028"/>
                </a:lnTo>
                <a:lnTo>
                  <a:pt x="2161235" y="5377301"/>
                </a:lnTo>
                <a:lnTo>
                  <a:pt x="0" y="5377301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3E3D4FC-69CF-4C79-8FD5-E6199C32FE97}"/>
              </a:ext>
            </a:extLst>
          </p:cNvPr>
          <p:cNvSpPr txBox="1"/>
          <p:nvPr/>
        </p:nvSpPr>
        <p:spPr>
          <a:xfrm>
            <a:off x="10231577" y="4298876"/>
            <a:ext cx="1419497" cy="523220"/>
          </a:xfrm>
          <a:prstGeom prst="rect">
            <a:avLst/>
          </a:prstGeom>
          <a:solidFill>
            <a:srgbClr val="FFDE75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b="1" dirty="0"/>
              <a:t>ラーニング</a:t>
            </a:r>
            <a:br>
              <a:rPr lang="en-US" altLang="ja-JP" sz="1400" b="1" dirty="0"/>
            </a:br>
            <a:r>
              <a:rPr lang="ja-JP" altLang="en-US" sz="1400" b="1" dirty="0"/>
              <a:t>システム</a:t>
            </a:r>
            <a:endParaRPr kumimoji="1" lang="en-US" altLang="ja-JP" sz="1400" b="1" dirty="0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0CC2A189-B31B-42BE-BD16-E0584D5BC1E1}"/>
              </a:ext>
            </a:extLst>
          </p:cNvPr>
          <p:cNvSpPr/>
          <p:nvPr/>
        </p:nvSpPr>
        <p:spPr>
          <a:xfrm>
            <a:off x="2091781" y="354942"/>
            <a:ext cx="5719808" cy="405361"/>
          </a:xfrm>
          <a:prstGeom prst="roundRect">
            <a:avLst>
              <a:gd name="adj" fmla="val 317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ナレッジ管理システム・</a:t>
            </a:r>
            <a:r>
              <a:rPr lang="en-US" altLang="ja-JP" b="1" dirty="0"/>
              <a:t>WEB3</a:t>
            </a:r>
            <a:r>
              <a:rPr lang="ja-JP" altLang="en-US" b="1" dirty="0"/>
              <a:t>層モデル（全体図）</a:t>
            </a:r>
            <a:endParaRPr kumimoji="1" lang="ja-JP" altLang="en-US" b="1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A699B4A-5633-44E9-B191-09AA2F45A2CA}"/>
              </a:ext>
            </a:extLst>
          </p:cNvPr>
          <p:cNvSpPr txBox="1"/>
          <p:nvPr/>
        </p:nvSpPr>
        <p:spPr>
          <a:xfrm>
            <a:off x="10218387" y="1404572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Google Drive</a:t>
            </a:r>
            <a:endParaRPr kumimoji="1" lang="ja-JP" altLang="en-US" sz="1400" b="1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E54601F-6D2B-4F7B-8A4E-869440583655}"/>
              </a:ext>
            </a:extLst>
          </p:cNvPr>
          <p:cNvSpPr txBox="1"/>
          <p:nvPr/>
        </p:nvSpPr>
        <p:spPr>
          <a:xfrm>
            <a:off x="10218387" y="2247358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Claude API</a:t>
            </a:r>
            <a:endParaRPr kumimoji="1" lang="ja-JP" altLang="en-US" sz="1400" b="1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1ABE53D2-7957-4BDF-AB1B-C4CC9B8D2DBA}"/>
              </a:ext>
            </a:extLst>
          </p:cNvPr>
          <p:cNvSpPr txBox="1"/>
          <p:nvPr/>
        </p:nvSpPr>
        <p:spPr>
          <a:xfrm>
            <a:off x="10218387" y="3090144"/>
            <a:ext cx="1713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 err="1"/>
              <a:t>LangGraph</a:t>
            </a:r>
            <a:r>
              <a:rPr lang="en-US" altLang="ja-JP" sz="1400" b="1" dirty="0"/>
              <a:t> Agent</a:t>
            </a:r>
            <a:endParaRPr kumimoji="1" lang="ja-JP" altLang="en-US" sz="1400" b="1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4B398B65-0E2A-43FC-AC30-7559A64F8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865" y="2508573"/>
            <a:ext cx="1066949" cy="409632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63B8B9BA-377E-44C0-8092-197DE43A7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9449" y="3336005"/>
            <a:ext cx="753547" cy="645259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0D2EBD3C-8D19-4FEA-9A8B-AB09B472FD77}"/>
              </a:ext>
            </a:extLst>
          </p:cNvPr>
          <p:cNvCxnSpPr>
            <a:cxnSpLocks/>
          </p:cNvCxnSpPr>
          <p:nvPr/>
        </p:nvCxnSpPr>
        <p:spPr>
          <a:xfrm>
            <a:off x="9629251" y="1844042"/>
            <a:ext cx="589136" cy="0"/>
          </a:xfrm>
          <a:prstGeom prst="straightConnector1">
            <a:avLst/>
          </a:prstGeom>
          <a:ln w="317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B22386C2-851F-4326-9F02-0E5AA3348358}"/>
              </a:ext>
            </a:extLst>
          </p:cNvPr>
          <p:cNvCxnSpPr>
            <a:cxnSpLocks/>
          </p:cNvCxnSpPr>
          <p:nvPr/>
        </p:nvCxnSpPr>
        <p:spPr>
          <a:xfrm>
            <a:off x="9629251" y="2775286"/>
            <a:ext cx="589136" cy="0"/>
          </a:xfrm>
          <a:prstGeom prst="straightConnector1">
            <a:avLst/>
          </a:prstGeom>
          <a:ln w="317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A81EDBF9-0871-42BA-B476-5C97808F9842}"/>
              </a:ext>
            </a:extLst>
          </p:cNvPr>
          <p:cNvCxnSpPr>
            <a:cxnSpLocks/>
          </p:cNvCxnSpPr>
          <p:nvPr/>
        </p:nvCxnSpPr>
        <p:spPr>
          <a:xfrm>
            <a:off x="9637960" y="3537081"/>
            <a:ext cx="589136" cy="0"/>
          </a:xfrm>
          <a:prstGeom prst="straightConnector1">
            <a:avLst/>
          </a:prstGeom>
          <a:ln w="317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E21EF04-8CFE-4BF8-B31B-85646FBA4861}"/>
              </a:ext>
            </a:extLst>
          </p:cNvPr>
          <p:cNvSpPr txBox="1"/>
          <p:nvPr/>
        </p:nvSpPr>
        <p:spPr>
          <a:xfrm>
            <a:off x="9930950" y="5188070"/>
            <a:ext cx="19527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・</a:t>
            </a:r>
            <a:r>
              <a:rPr lang="en-US" altLang="ja-JP" sz="1200" dirty="0"/>
              <a:t>users</a:t>
            </a:r>
            <a:r>
              <a:rPr lang="ja-JP" altLang="en-US" sz="1200" dirty="0"/>
              <a:t>テーブル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Neo4j</a:t>
            </a:r>
            <a:r>
              <a:rPr lang="ja-JP" altLang="en-US" sz="1200" dirty="0"/>
              <a:t>の</a:t>
            </a:r>
            <a:r>
              <a:rPr lang="en-US" altLang="ja-JP" sz="1200" dirty="0"/>
              <a:t>Concept</a:t>
            </a:r>
            <a:r>
              <a:rPr lang="ja-JP" altLang="en-US" sz="1200" dirty="0"/>
              <a:t>ノード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 err="1"/>
              <a:t>LangGraph</a:t>
            </a:r>
            <a:r>
              <a:rPr lang="en-US" altLang="ja-JP" sz="1200" dirty="0"/>
              <a:t> Agent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Claude API</a:t>
            </a:r>
            <a:r>
              <a:rPr lang="ja-JP" altLang="en-US" sz="1200" dirty="0"/>
              <a:t>のキー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R2</a:t>
            </a:r>
            <a:r>
              <a:rPr lang="ja-JP" altLang="en-US" sz="1200" dirty="0"/>
              <a:t>（パス分離で共有）</a:t>
            </a:r>
          </a:p>
        </p:txBody>
      </p:sp>
    </p:spTree>
    <p:extLst>
      <p:ext uri="{BB962C8B-B14F-4D97-AF65-F5344CB8AC3E}">
        <p14:creationId xmlns:p14="http://schemas.microsoft.com/office/powerpoint/2010/main" val="202597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図 52">
            <a:extLst>
              <a:ext uri="{FF2B5EF4-FFF2-40B4-BE49-F238E27FC236}">
                <a16:creationId xmlns:a16="http://schemas.microsoft.com/office/drawing/2014/main" id="{0BA3B370-2E1D-413F-ABA8-7BB34C4EB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387" y="1332604"/>
            <a:ext cx="1497758" cy="556859"/>
          </a:xfrm>
          <a:prstGeom prst="rect">
            <a:avLst/>
          </a:prstGeom>
        </p:spPr>
      </p:pic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2A930458-6EA9-4503-9F84-FCE6C42EE030}"/>
              </a:ext>
            </a:extLst>
          </p:cNvPr>
          <p:cNvSpPr/>
          <p:nvPr/>
        </p:nvSpPr>
        <p:spPr>
          <a:xfrm>
            <a:off x="1600914" y="442020"/>
            <a:ext cx="8205452" cy="5974080"/>
          </a:xfrm>
          <a:prstGeom prst="roundRect">
            <a:avLst>
              <a:gd name="adj" fmla="val 3647"/>
            </a:avLst>
          </a:prstGeom>
          <a:noFill/>
          <a:ln w="222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519655D-0C9C-4F1F-9CAF-817C0F26EB88}"/>
              </a:ext>
            </a:extLst>
          </p:cNvPr>
          <p:cNvSpPr/>
          <p:nvPr/>
        </p:nvSpPr>
        <p:spPr>
          <a:xfrm>
            <a:off x="1802889" y="890752"/>
            <a:ext cx="2518286" cy="5377301"/>
          </a:xfrm>
          <a:prstGeom prst="rect">
            <a:avLst/>
          </a:prstGeom>
          <a:noFill/>
          <a:ln w="22225"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F45D39EE-455B-40CB-B70D-6A007CEF68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686" y="1474736"/>
            <a:ext cx="800591" cy="97463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38B932DF-6F86-4397-9182-F61812322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07" y="1474736"/>
            <a:ext cx="1151688" cy="89962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467B445-0286-496E-B4C9-245F3113F3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9387" y="1221159"/>
            <a:ext cx="1175569" cy="370326"/>
          </a:xfrm>
          <a:prstGeom prst="rect">
            <a:avLst/>
          </a:prstGeom>
        </p:spPr>
      </p:pic>
      <p:sp>
        <p:nvSpPr>
          <p:cNvPr id="22" name="四角形: メモ 21">
            <a:extLst>
              <a:ext uri="{FF2B5EF4-FFF2-40B4-BE49-F238E27FC236}">
                <a16:creationId xmlns:a16="http://schemas.microsoft.com/office/drawing/2014/main" id="{4F9EB476-2EE9-48CC-9077-C6ED74FE5CDA}"/>
              </a:ext>
            </a:extLst>
          </p:cNvPr>
          <p:cNvSpPr/>
          <p:nvPr/>
        </p:nvSpPr>
        <p:spPr>
          <a:xfrm>
            <a:off x="483314" y="3865104"/>
            <a:ext cx="580221" cy="64934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DOCX</a:t>
            </a:r>
            <a:endParaRPr kumimoji="1" lang="ja-JP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四角形: メモ 15">
            <a:extLst>
              <a:ext uri="{FF2B5EF4-FFF2-40B4-BE49-F238E27FC236}">
                <a16:creationId xmlns:a16="http://schemas.microsoft.com/office/drawing/2014/main" id="{789F1654-C4FC-49EC-B7A1-5A8E49B5805C}"/>
              </a:ext>
            </a:extLst>
          </p:cNvPr>
          <p:cNvSpPr/>
          <p:nvPr/>
        </p:nvSpPr>
        <p:spPr>
          <a:xfrm>
            <a:off x="483314" y="2830939"/>
            <a:ext cx="580221" cy="64934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ja-JP" sz="1000" dirty="0">
                <a:solidFill>
                  <a:schemeClr val="tx1"/>
                </a:solidFill>
              </a:rPr>
              <a:t>MD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四角形: メモ 22">
            <a:extLst>
              <a:ext uri="{FF2B5EF4-FFF2-40B4-BE49-F238E27FC236}">
                <a16:creationId xmlns:a16="http://schemas.microsoft.com/office/drawing/2014/main" id="{20892867-99EB-477B-A06A-44228AA8DE1B}"/>
              </a:ext>
            </a:extLst>
          </p:cNvPr>
          <p:cNvSpPr/>
          <p:nvPr/>
        </p:nvSpPr>
        <p:spPr>
          <a:xfrm>
            <a:off x="643695" y="4144790"/>
            <a:ext cx="580221" cy="649345"/>
          </a:xfrm>
          <a:prstGeom prst="foldedCorne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1000" dirty="0">
                <a:solidFill>
                  <a:schemeClr val="tx1"/>
                </a:solidFill>
              </a:rPr>
              <a:t>PDF</a:t>
            </a:r>
            <a:endParaRPr kumimoji="1" lang="ja-JP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E7065FB-36FB-48CA-8951-B5F4025775FC}"/>
              </a:ext>
            </a:extLst>
          </p:cNvPr>
          <p:cNvSpPr txBox="1"/>
          <p:nvPr/>
        </p:nvSpPr>
        <p:spPr>
          <a:xfrm>
            <a:off x="412763" y="114373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ユーザー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CC47E11-40E0-4E36-B7A5-F84B9EB9BADE}"/>
              </a:ext>
            </a:extLst>
          </p:cNvPr>
          <p:cNvSpPr txBox="1"/>
          <p:nvPr/>
        </p:nvSpPr>
        <p:spPr>
          <a:xfrm>
            <a:off x="2091781" y="721475"/>
            <a:ext cx="2020388" cy="307777"/>
          </a:xfrm>
          <a:prstGeom prst="rect">
            <a:avLst/>
          </a:prstGeom>
          <a:solidFill>
            <a:srgbClr val="B2D69A"/>
          </a:solidFill>
        </p:spPr>
        <p:txBody>
          <a:bodyPr wrap="square" rtlCol="0">
            <a:spAutoFit/>
          </a:bodyPr>
          <a:lstStyle/>
          <a:p>
            <a:r>
              <a:rPr lang="ja-JP" altLang="en-US" sz="1400" b="1" dirty="0"/>
              <a:t>プレゼンテーション層</a:t>
            </a:r>
            <a:endParaRPr kumimoji="1" lang="en-US" altLang="ja-JP" sz="1400" b="1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4F4FC72-CD29-4D66-BAC2-DB6C0B767444}"/>
              </a:ext>
            </a:extLst>
          </p:cNvPr>
          <p:cNvSpPr txBox="1"/>
          <p:nvPr/>
        </p:nvSpPr>
        <p:spPr>
          <a:xfrm>
            <a:off x="2025523" y="1759944"/>
            <a:ext cx="187743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登録系：</a:t>
            </a:r>
            <a:br>
              <a:rPr lang="en-US" altLang="ja-JP" sz="1200" b="1" dirty="0"/>
            </a:br>
            <a:r>
              <a:rPr lang="ja-JP" altLang="en-US" sz="1200" dirty="0"/>
              <a:t>・社内文書アップロード</a:t>
            </a:r>
            <a:br>
              <a:rPr lang="en-US" altLang="ja-JP" sz="1200" dirty="0"/>
            </a:br>
            <a:r>
              <a:rPr lang="ja-JP" altLang="en-US" sz="1200" dirty="0"/>
              <a:t>　（</a:t>
            </a:r>
            <a:r>
              <a:rPr lang="en-US" altLang="ja-JP" sz="1200" dirty="0"/>
              <a:t>MD</a:t>
            </a:r>
            <a: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  <a:t>/DOCX/PDF</a:t>
            </a:r>
            <a:r>
              <a:rPr lang="ja-JP" altLang="en-US" sz="1200" dirty="0"/>
              <a:t>）</a:t>
            </a:r>
            <a:b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</a:t>
            </a:r>
            <a: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  <a:t>Google Drive</a:t>
            </a:r>
            <a:b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・外部リンク</a:t>
            </a:r>
            <a:br>
              <a:rPr lang="en-US" altLang="ja-JP" sz="1200" dirty="0"/>
            </a:br>
            <a:endParaRPr lang="en-US" altLang="ja-JP" sz="400" dirty="0"/>
          </a:p>
          <a:p>
            <a:r>
              <a:rPr lang="ja-JP" altLang="en-US" sz="1200" b="1" dirty="0"/>
              <a:t>検索系：</a:t>
            </a:r>
            <a:br>
              <a:rPr lang="en-US" altLang="ja-JP" sz="1200" b="1" dirty="0"/>
            </a:br>
            <a:r>
              <a:rPr lang="ja-JP" altLang="en-US" sz="1200" b="1" dirty="0"/>
              <a:t>・</a:t>
            </a:r>
            <a:r>
              <a:rPr lang="ja-JP" altLang="en-US" sz="1200" dirty="0"/>
              <a:t>一覧</a:t>
            </a:r>
            <a:br>
              <a:rPr lang="en-US" altLang="ja-JP" sz="1200" dirty="0"/>
            </a:br>
            <a:r>
              <a:rPr lang="ja-JP" altLang="en-US" sz="1200" dirty="0"/>
              <a:t>・キーワード</a:t>
            </a:r>
            <a:br>
              <a:rPr lang="en-US" altLang="ja-JP" sz="1200" dirty="0"/>
            </a:br>
            <a:r>
              <a:rPr lang="ja-JP" altLang="en-US" sz="1200" dirty="0"/>
              <a:t>・カテゴリ</a:t>
            </a:r>
            <a:br>
              <a:rPr lang="en-US" altLang="ja-JP" sz="1200" dirty="0"/>
            </a:br>
            <a:r>
              <a:rPr lang="ja-JP" altLang="en-US" sz="1200" dirty="0"/>
              <a:t>・タグ</a:t>
            </a:r>
            <a:br>
              <a:rPr lang="en-US" altLang="ja-JP" sz="1200" dirty="0"/>
            </a:br>
            <a:r>
              <a:rPr lang="ja-JP" altLang="en-US" sz="1200" dirty="0"/>
              <a:t>・複合条件</a:t>
            </a:r>
            <a:br>
              <a:rPr lang="en-US" altLang="ja-JP" sz="1200" dirty="0"/>
            </a:br>
            <a:br>
              <a:rPr lang="en-US" altLang="ja-JP" sz="400" dirty="0"/>
            </a:br>
            <a:r>
              <a:rPr lang="ja-JP" altLang="en-US" sz="1200" b="1" dirty="0"/>
              <a:t>閲覧系：</a:t>
            </a:r>
            <a:br>
              <a:rPr lang="en-US" altLang="ja-JP" sz="1200" b="1" dirty="0"/>
            </a:br>
            <a:r>
              <a:rPr lang="ja-JP" altLang="en-US" sz="1200" dirty="0"/>
              <a:t>・本文</a:t>
            </a:r>
            <a:br>
              <a:rPr lang="en-US" altLang="ja-JP" sz="1200" dirty="0"/>
            </a:br>
            <a:r>
              <a:rPr lang="ja-JP" altLang="en-US" sz="1200" dirty="0"/>
              <a:t>・メタデータ</a:t>
            </a:r>
            <a:br>
              <a:rPr lang="en-US" altLang="ja-JP" sz="1200" dirty="0"/>
            </a:br>
            <a:r>
              <a:rPr lang="ja-JP" altLang="en-US" sz="1200" dirty="0"/>
              <a:t>・関連ドキュメント</a:t>
            </a:r>
            <a:br>
              <a:rPr lang="en-US" altLang="ja-JP" sz="1200" dirty="0"/>
            </a:b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・外部リンク</a:t>
            </a:r>
            <a:b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</a:br>
            <a:br>
              <a:rPr lang="en-US" altLang="ja-JP" sz="400" strike="sngStrik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ja-JP" altLang="en-US" sz="1200" b="1" strike="sngStrike" dirty="0">
                <a:solidFill>
                  <a:schemeClr val="bg1">
                    <a:lumMod val="75000"/>
                  </a:schemeClr>
                </a:solidFill>
              </a:rPr>
              <a:t>探索系：</a:t>
            </a:r>
            <a:br>
              <a:rPr lang="en-US" altLang="ja-JP" sz="1200" b="1" strike="sngStrik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ja-JP" altLang="en-US" sz="1200" b="1" strike="sngStrike" dirty="0">
                <a:solidFill>
                  <a:schemeClr val="bg1">
                    <a:lumMod val="75000"/>
                  </a:schemeClr>
                </a:solidFill>
              </a:rPr>
              <a:t>・</a:t>
            </a: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グラフビュー</a:t>
            </a:r>
            <a:b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・概念検索</a:t>
            </a:r>
            <a:br>
              <a:rPr lang="en-US" altLang="ja-JP" sz="1200" dirty="0"/>
            </a:br>
            <a:br>
              <a:rPr lang="en-US" altLang="ja-JP" sz="400" dirty="0"/>
            </a:br>
            <a:r>
              <a:rPr lang="ja-JP" altLang="en-US" sz="1200" b="1" dirty="0"/>
              <a:t>管理系：</a:t>
            </a:r>
            <a:br>
              <a:rPr lang="en-US" altLang="ja-JP" sz="1200" b="1" dirty="0"/>
            </a:br>
            <a:r>
              <a:rPr lang="ja-JP" altLang="en-US" sz="1200" b="1" dirty="0"/>
              <a:t>・</a:t>
            </a:r>
            <a:r>
              <a:rPr lang="ja-JP" altLang="en-US" sz="1200" dirty="0"/>
              <a:t>ブックマーク</a:t>
            </a:r>
            <a:br>
              <a:rPr lang="en-US" altLang="ja-JP" sz="1200" dirty="0"/>
            </a:br>
            <a:r>
              <a:rPr lang="ja-JP" altLang="en-US" sz="1200" dirty="0"/>
              <a:t>・閲覧履歴</a:t>
            </a:r>
            <a:endParaRPr kumimoji="1"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53737CC-F894-4ED2-8EEF-79E3FBC132D2}"/>
              </a:ext>
            </a:extLst>
          </p:cNvPr>
          <p:cNvSpPr txBox="1"/>
          <p:nvPr/>
        </p:nvSpPr>
        <p:spPr>
          <a:xfrm>
            <a:off x="177984" y="2598927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b="1" dirty="0"/>
              <a:t>（社内文書）</a:t>
            </a:r>
            <a:endParaRPr kumimoji="1" lang="ja-JP" altLang="en-US" b="1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629F777-8FE4-41EE-BBB3-E9C62D80F308}"/>
              </a:ext>
            </a:extLst>
          </p:cNvPr>
          <p:cNvSpPr/>
          <p:nvPr/>
        </p:nvSpPr>
        <p:spPr>
          <a:xfrm>
            <a:off x="4610067" y="877842"/>
            <a:ext cx="2518286" cy="5377301"/>
          </a:xfrm>
          <a:prstGeom prst="rect">
            <a:avLst/>
          </a:prstGeom>
          <a:noFill/>
          <a:ln w="2222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4993824-7864-459F-B1EE-6A612C1AE582}"/>
              </a:ext>
            </a:extLst>
          </p:cNvPr>
          <p:cNvSpPr txBox="1"/>
          <p:nvPr/>
        </p:nvSpPr>
        <p:spPr>
          <a:xfrm>
            <a:off x="4898959" y="708565"/>
            <a:ext cx="1834490" cy="307777"/>
          </a:xfrm>
          <a:prstGeom prst="rect">
            <a:avLst/>
          </a:prstGeom>
          <a:solidFill>
            <a:srgbClr val="F3A671"/>
          </a:solidFill>
        </p:spPr>
        <p:txBody>
          <a:bodyPr wrap="square" rtlCol="0" anchor="ctr" anchorCtr="0">
            <a:spAutoFit/>
          </a:bodyPr>
          <a:lstStyle/>
          <a:p>
            <a:r>
              <a:rPr lang="ja-JP" altLang="en-US" sz="1400" b="1" dirty="0"/>
              <a:t>アプリケーション層</a:t>
            </a:r>
            <a:endParaRPr kumimoji="1" lang="en-US" altLang="ja-JP" sz="1400" b="1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37E3BEB-1893-41C6-8559-D16D537768B8}"/>
              </a:ext>
            </a:extLst>
          </p:cNvPr>
          <p:cNvSpPr txBox="1"/>
          <p:nvPr/>
        </p:nvSpPr>
        <p:spPr>
          <a:xfrm>
            <a:off x="4713061" y="1538169"/>
            <a:ext cx="251828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/>
              <a:t>API</a:t>
            </a:r>
            <a:r>
              <a:rPr lang="ja-JP" altLang="en-US" sz="1200" b="1" dirty="0"/>
              <a:t>系（</a:t>
            </a:r>
            <a:r>
              <a:rPr lang="en-US" altLang="ja-JP" sz="1200" b="1" dirty="0"/>
              <a:t>Workers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・一覧、検索、絞り込み</a:t>
            </a:r>
          </a:p>
          <a:p>
            <a:r>
              <a:rPr lang="ja-JP" altLang="en-US" sz="1200" dirty="0"/>
              <a:t>・ドキュメント詳細取得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・グラフ探索</a:t>
            </a:r>
          </a:p>
          <a:p>
            <a:r>
              <a:rPr lang="ja-JP" altLang="en-US" sz="1200" dirty="0"/>
              <a:t>・ブックマーク、閲覧履歴</a:t>
            </a:r>
          </a:p>
          <a:p>
            <a:endParaRPr lang="ja-JP" altLang="en-US" sz="1200" dirty="0"/>
          </a:p>
          <a:p>
            <a:r>
              <a:rPr lang="ja-JP" altLang="en-US" sz="1200" b="1" dirty="0"/>
              <a:t>インポート系（</a:t>
            </a:r>
            <a:r>
              <a:rPr lang="en-US" altLang="ja-JP" sz="1200" b="1" dirty="0"/>
              <a:t>Cloud Run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・ファイル取得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Markdown</a:t>
            </a:r>
            <a:r>
              <a:rPr lang="ja-JP" altLang="en-US" sz="1200" dirty="0"/>
              <a:t>変換</a:t>
            </a:r>
          </a:p>
          <a:p>
            <a:r>
              <a:rPr lang="ja-JP" altLang="en-US" sz="1200" dirty="0"/>
              <a:t>・ストレージ保存・</a:t>
            </a:r>
            <a:r>
              <a:rPr lang="en-US" altLang="ja-JP" sz="1200" dirty="0"/>
              <a:t>DB</a:t>
            </a:r>
            <a:r>
              <a:rPr lang="ja-JP" altLang="en-US" sz="1200" dirty="0"/>
              <a:t>登録</a:t>
            </a:r>
          </a:p>
          <a:p>
            <a:endParaRPr lang="ja-JP" altLang="en-US" sz="1200" dirty="0"/>
          </a:p>
          <a:p>
            <a:r>
              <a:rPr lang="en-US" altLang="ja-JP" sz="1200" b="1" strike="sngStrike" dirty="0">
                <a:solidFill>
                  <a:schemeClr val="bg1">
                    <a:lumMod val="75000"/>
                  </a:schemeClr>
                </a:solidFill>
              </a:rPr>
              <a:t>AI</a:t>
            </a:r>
            <a:r>
              <a:rPr lang="ja-JP" altLang="en-US" sz="1200" b="1" strike="sngStrike" dirty="0">
                <a:solidFill>
                  <a:schemeClr val="bg1">
                    <a:lumMod val="75000"/>
                  </a:schemeClr>
                </a:solidFill>
              </a:rPr>
              <a:t>系（</a:t>
            </a:r>
            <a:r>
              <a:rPr lang="en-US" altLang="ja-JP" sz="1200" b="1" strike="sngStrike" dirty="0">
                <a:solidFill>
                  <a:schemeClr val="bg1">
                    <a:lumMod val="75000"/>
                  </a:schemeClr>
                </a:solidFill>
              </a:rPr>
              <a:t>Cloud Run+ API</a:t>
            </a:r>
            <a:r>
              <a:rPr lang="ja-JP" altLang="en-US" sz="1200" b="1" strike="sngStrike" dirty="0">
                <a:solidFill>
                  <a:schemeClr val="bg1">
                    <a:lumMod val="75000"/>
                  </a:schemeClr>
                </a:solidFill>
              </a:rPr>
              <a:t>）：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・要約生成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・概念抽出</a:t>
            </a:r>
          </a:p>
          <a:p>
            <a:endParaRPr lang="ja-JP" altLang="en-US" sz="1200" strike="sngStrike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ja-JP" altLang="en-US" sz="1200" b="1" strike="sngStrike" dirty="0">
                <a:solidFill>
                  <a:schemeClr val="bg1">
                    <a:lumMod val="75000"/>
                  </a:schemeClr>
                </a:solidFill>
              </a:rPr>
              <a:t>外部連携系（</a:t>
            </a:r>
            <a:r>
              <a:rPr lang="en-US" altLang="ja-JP" sz="1200" b="1" strike="sngStrike" dirty="0">
                <a:solidFill>
                  <a:schemeClr val="bg1">
                    <a:lumMod val="75000"/>
                  </a:schemeClr>
                </a:solidFill>
              </a:rPr>
              <a:t>Cloud Run</a:t>
            </a:r>
            <a:r>
              <a:rPr lang="ja-JP" altLang="en-US" sz="1200" b="1" strike="sngStrike" dirty="0">
                <a:solidFill>
                  <a:schemeClr val="bg1">
                    <a:lumMod val="75000"/>
                  </a:schemeClr>
                </a:solidFill>
              </a:rPr>
              <a:t>）：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</a:t>
            </a:r>
            <a: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  <a:t>Google Drive</a:t>
            </a: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連携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</a:t>
            </a:r>
            <a:r>
              <a:rPr lang="en-US" altLang="ja-JP" sz="1200" strike="sngStrike" dirty="0">
                <a:solidFill>
                  <a:schemeClr val="bg1">
                    <a:lumMod val="75000"/>
                  </a:schemeClr>
                </a:solidFill>
              </a:rPr>
              <a:t>Webhook</a:t>
            </a:r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受け付け（将来）</a:t>
            </a:r>
          </a:p>
          <a:p>
            <a:endParaRPr kumimoji="1" lang="ja-JP" altLang="en-US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D13CEDA-3A2D-4C84-9D4E-1DD9DEF9BC36}"/>
              </a:ext>
            </a:extLst>
          </p:cNvPr>
          <p:cNvSpPr txBox="1"/>
          <p:nvPr/>
        </p:nvSpPr>
        <p:spPr>
          <a:xfrm>
            <a:off x="7367087" y="1377815"/>
            <a:ext cx="21612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/>
              <a:t>D1</a:t>
            </a:r>
            <a:r>
              <a:rPr lang="ja-JP" altLang="en-US" sz="1200" b="1" dirty="0"/>
              <a:t>（メタデータ</a:t>
            </a:r>
            <a:r>
              <a:rPr lang="en-US" altLang="ja-JP" sz="1200" b="1" dirty="0"/>
              <a:t>DB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・ドキュメント管理</a:t>
            </a:r>
          </a:p>
          <a:p>
            <a:r>
              <a:rPr lang="ja-JP" altLang="en-US" sz="1200" dirty="0"/>
              <a:t>・タグ</a:t>
            </a:r>
          </a:p>
          <a:p>
            <a:r>
              <a:rPr lang="ja-JP" altLang="en-US" sz="1200" dirty="0"/>
              <a:t>・カテゴリ管理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・外部リンク管理</a:t>
            </a:r>
          </a:p>
          <a:p>
            <a:r>
              <a:rPr lang="ja-JP" altLang="en-US" sz="1200" dirty="0"/>
              <a:t>・</a:t>
            </a:r>
            <a:r>
              <a:rPr lang="ja-JP" altLang="en-US" sz="1200" dirty="0">
                <a:solidFill>
                  <a:srgbClr val="FF7575"/>
                </a:solidFill>
              </a:rPr>
              <a:t>インポートジョブ管理</a:t>
            </a:r>
            <a:br>
              <a:rPr lang="en-US" altLang="ja-JP" sz="1200" dirty="0">
                <a:solidFill>
                  <a:srgbClr val="FF7575"/>
                </a:solidFill>
              </a:rPr>
            </a:br>
            <a:r>
              <a:rPr lang="ja-JP" altLang="en-US" sz="1200" dirty="0">
                <a:solidFill>
                  <a:srgbClr val="FF7575"/>
                </a:solidFill>
              </a:rPr>
              <a:t>　⇒シンプル化</a:t>
            </a:r>
          </a:p>
          <a:p>
            <a:r>
              <a:rPr lang="ja-JP" altLang="en-US" sz="1200" dirty="0"/>
              <a:t>・ブックマーク</a:t>
            </a:r>
          </a:p>
          <a:p>
            <a:r>
              <a:rPr lang="ja-JP" altLang="en-US" sz="1200" dirty="0"/>
              <a:t>・閲覧履歴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・アクセス制御</a:t>
            </a:r>
          </a:p>
          <a:p>
            <a:endParaRPr lang="ja-JP" altLang="en-US" sz="1200" dirty="0"/>
          </a:p>
          <a:p>
            <a:r>
              <a:rPr lang="en-US" altLang="ja-JP" sz="1200" b="1" dirty="0"/>
              <a:t>R2</a:t>
            </a:r>
            <a:r>
              <a:rPr lang="ja-JP" altLang="en-US" sz="1200" b="1" dirty="0"/>
              <a:t>（</a:t>
            </a:r>
            <a:r>
              <a:rPr lang="en-US" altLang="ja-JP" sz="1200" dirty="0"/>
              <a:t> </a:t>
            </a:r>
            <a:r>
              <a:rPr lang="en-US" altLang="ja-JP" sz="1200" b="1" dirty="0"/>
              <a:t>File</a:t>
            </a:r>
            <a:r>
              <a:rPr lang="ja-JP" altLang="en-US" sz="1200" b="1" dirty="0"/>
              <a:t>ストレージ）：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Markdown</a:t>
            </a:r>
            <a:r>
              <a:rPr lang="ja-JP" altLang="en-US" sz="1200" dirty="0"/>
              <a:t>本文</a:t>
            </a:r>
          </a:p>
          <a:p>
            <a:r>
              <a:rPr lang="ja-JP" altLang="en-US" sz="1200" strike="sngStrike" dirty="0">
                <a:solidFill>
                  <a:schemeClr val="bg1">
                    <a:lumMod val="75000"/>
                  </a:schemeClr>
                </a:solidFill>
              </a:rPr>
              <a:t>・画像ファイル</a:t>
            </a:r>
          </a:p>
          <a:p>
            <a:endParaRPr lang="ja-JP" altLang="en-US" sz="1200" dirty="0"/>
          </a:p>
          <a:p>
            <a:r>
              <a:rPr lang="en-US" altLang="ja-JP" sz="1200" b="1" dirty="0"/>
              <a:t>Neo4j</a:t>
            </a:r>
            <a:r>
              <a:rPr lang="ja-JP" altLang="en-US" sz="1200" b="1" dirty="0"/>
              <a:t>（グラフ</a:t>
            </a:r>
            <a:r>
              <a:rPr lang="en-US" altLang="ja-JP" sz="1200" b="1" dirty="0"/>
              <a:t>DB</a:t>
            </a:r>
            <a:r>
              <a:rPr lang="ja-JP" altLang="en-US" sz="1200" b="1" dirty="0"/>
              <a:t>）：</a:t>
            </a:r>
          </a:p>
          <a:p>
            <a:r>
              <a:rPr lang="ja-JP" altLang="en-US" sz="1200" dirty="0"/>
              <a:t>・概念ノード</a:t>
            </a:r>
          </a:p>
          <a:p>
            <a:r>
              <a:rPr lang="ja-JP" altLang="en-US" sz="1200" dirty="0">
                <a:solidFill>
                  <a:srgbClr val="FF7575"/>
                </a:solidFill>
              </a:rPr>
              <a:t>・リレーション管理</a:t>
            </a:r>
            <a:br>
              <a:rPr lang="en-US" altLang="ja-JP" sz="1200" dirty="0">
                <a:solidFill>
                  <a:srgbClr val="FF7575"/>
                </a:solidFill>
              </a:rPr>
            </a:br>
            <a:r>
              <a:rPr lang="ja-JP" altLang="en-US" sz="600" dirty="0">
                <a:solidFill>
                  <a:srgbClr val="FF7575"/>
                </a:solidFill>
              </a:rPr>
              <a:t>　</a:t>
            </a:r>
            <a:r>
              <a:rPr lang="ja-JP" altLang="en-US" sz="1200" dirty="0">
                <a:solidFill>
                  <a:srgbClr val="FF7575"/>
                </a:solidFill>
              </a:rPr>
              <a:t>⇒</a:t>
            </a:r>
            <a:r>
              <a:rPr lang="en-US" altLang="ja-JP" sz="1200" dirty="0">
                <a:solidFill>
                  <a:srgbClr val="FF7575"/>
                </a:solidFill>
              </a:rPr>
              <a:t>tagged</a:t>
            </a:r>
            <a:r>
              <a:rPr lang="ja-JP" altLang="en-US" sz="1200" dirty="0">
                <a:solidFill>
                  <a:srgbClr val="FF7575"/>
                </a:solidFill>
              </a:rPr>
              <a:t>リレーションのみ</a:t>
            </a:r>
            <a:endParaRPr lang="en-US" altLang="ja-JP" sz="1200" dirty="0">
              <a:solidFill>
                <a:srgbClr val="FF7575"/>
              </a:solidFill>
            </a:endParaRPr>
          </a:p>
          <a:p>
            <a:endParaRPr lang="en-US" altLang="ja-JP" sz="1200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B589AC50-D698-411F-90D8-AD2B8BA8DC13}"/>
              </a:ext>
            </a:extLst>
          </p:cNvPr>
          <p:cNvCxnSpPr>
            <a:cxnSpLocks/>
          </p:cNvCxnSpPr>
          <p:nvPr/>
        </p:nvCxnSpPr>
        <p:spPr>
          <a:xfrm>
            <a:off x="1088359" y="2910549"/>
            <a:ext cx="795311" cy="0"/>
          </a:xfrm>
          <a:prstGeom prst="straightConnector1">
            <a:avLst/>
          </a:prstGeom>
          <a:ln w="57150">
            <a:solidFill>
              <a:srgbClr val="FF0000"/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6DDC83FA-658E-4DD1-8874-141896333E20}"/>
              </a:ext>
            </a:extLst>
          </p:cNvPr>
          <p:cNvCxnSpPr>
            <a:cxnSpLocks/>
          </p:cNvCxnSpPr>
          <p:nvPr/>
        </p:nvCxnSpPr>
        <p:spPr>
          <a:xfrm>
            <a:off x="4103648" y="1164604"/>
            <a:ext cx="795311" cy="0"/>
          </a:xfrm>
          <a:prstGeom prst="straightConnector1">
            <a:avLst/>
          </a:prstGeom>
          <a:ln w="571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96C0771F-DF2D-4597-9803-C104A4D97167}"/>
              </a:ext>
            </a:extLst>
          </p:cNvPr>
          <p:cNvCxnSpPr>
            <a:cxnSpLocks/>
          </p:cNvCxnSpPr>
          <p:nvPr/>
        </p:nvCxnSpPr>
        <p:spPr>
          <a:xfrm>
            <a:off x="6825076" y="1164604"/>
            <a:ext cx="795311" cy="0"/>
          </a:xfrm>
          <a:prstGeom prst="straightConnector1">
            <a:avLst/>
          </a:prstGeom>
          <a:ln w="57150">
            <a:solidFill>
              <a:srgbClr val="FF0000"/>
            </a:solidFill>
            <a:headEnd type="stealth" w="lg" len="med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32">
            <a:extLst>
              <a:ext uri="{FF2B5EF4-FFF2-40B4-BE49-F238E27FC236}">
                <a16:creationId xmlns:a16="http://schemas.microsoft.com/office/drawing/2014/main" id="{68DFAB5D-D1BD-479B-936D-58B6796670D4}"/>
              </a:ext>
            </a:extLst>
          </p:cNvPr>
          <p:cNvSpPr/>
          <p:nvPr/>
        </p:nvSpPr>
        <p:spPr>
          <a:xfrm>
            <a:off x="9953481" y="4430546"/>
            <a:ext cx="2043914" cy="1560943"/>
          </a:xfrm>
          <a:custGeom>
            <a:avLst/>
            <a:gdLst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61235 w 2161235"/>
              <a:gd name="connsiteY2" fmla="*/ 5377301 h 5377301"/>
              <a:gd name="connsiteX3" fmla="*/ 0 w 2161235"/>
              <a:gd name="connsiteY3" fmla="*/ 5377301 h 5377301"/>
              <a:gd name="connsiteX4" fmla="*/ 0 w 2161235"/>
              <a:gd name="connsiteY4" fmla="*/ 0 h 5377301"/>
              <a:gd name="connsiteX0" fmla="*/ 0 w 2161235"/>
              <a:gd name="connsiteY0" fmla="*/ 0 h 5377301"/>
              <a:gd name="connsiteX1" fmla="*/ 2161235 w 2161235"/>
              <a:gd name="connsiteY1" fmla="*/ 0 h 5377301"/>
              <a:gd name="connsiteX2" fmla="*/ 2152526 w 2161235"/>
              <a:gd name="connsiteY2" fmla="*/ 1750028 h 5377301"/>
              <a:gd name="connsiteX3" fmla="*/ 2161235 w 2161235"/>
              <a:gd name="connsiteY3" fmla="*/ 5377301 h 5377301"/>
              <a:gd name="connsiteX4" fmla="*/ 0 w 2161235"/>
              <a:gd name="connsiteY4" fmla="*/ 5377301 h 5377301"/>
              <a:gd name="connsiteX5" fmla="*/ 0 w 2161235"/>
              <a:gd name="connsiteY5" fmla="*/ 0 h 537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1235" h="5377301">
                <a:moveTo>
                  <a:pt x="0" y="0"/>
                </a:moveTo>
                <a:lnTo>
                  <a:pt x="2161235" y="0"/>
                </a:lnTo>
                <a:lnTo>
                  <a:pt x="2152526" y="1750028"/>
                </a:lnTo>
                <a:lnTo>
                  <a:pt x="2161235" y="5377301"/>
                </a:lnTo>
                <a:lnTo>
                  <a:pt x="0" y="5377301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accent4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3E3D4FC-69CF-4C79-8FD5-E6199C32FE97}"/>
              </a:ext>
            </a:extLst>
          </p:cNvPr>
          <p:cNvSpPr txBox="1"/>
          <p:nvPr/>
        </p:nvSpPr>
        <p:spPr>
          <a:xfrm>
            <a:off x="10231577" y="4124696"/>
            <a:ext cx="1419497" cy="523220"/>
          </a:xfrm>
          <a:prstGeom prst="rect">
            <a:avLst/>
          </a:prstGeom>
          <a:solidFill>
            <a:srgbClr val="FFDE75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b="1" dirty="0"/>
              <a:t>ラーニング</a:t>
            </a:r>
            <a:br>
              <a:rPr lang="en-US" altLang="ja-JP" sz="1400" b="1" dirty="0"/>
            </a:br>
            <a:r>
              <a:rPr lang="ja-JP" altLang="en-US" sz="1400" b="1" dirty="0"/>
              <a:t>システム</a:t>
            </a:r>
            <a:endParaRPr kumimoji="1" lang="en-US" altLang="ja-JP" sz="1400" b="1" dirty="0"/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0CC2A189-B31B-42BE-BD16-E0584D5BC1E1}"/>
              </a:ext>
            </a:extLst>
          </p:cNvPr>
          <p:cNvSpPr/>
          <p:nvPr/>
        </p:nvSpPr>
        <p:spPr>
          <a:xfrm>
            <a:off x="1961145" y="180762"/>
            <a:ext cx="7546180" cy="405361"/>
          </a:xfrm>
          <a:prstGeom prst="roundRect">
            <a:avLst>
              <a:gd name="adj" fmla="val 317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/>
              <a:t>ナレッジ管理システム・</a:t>
            </a:r>
            <a:r>
              <a:rPr lang="en-US" altLang="ja-JP" b="1" dirty="0"/>
              <a:t>WEB3</a:t>
            </a:r>
            <a:r>
              <a:rPr lang="ja-JP" altLang="en-US" b="1" dirty="0"/>
              <a:t>層モデル（</a:t>
            </a:r>
            <a:r>
              <a:rPr lang="en-US" altLang="ja-JP" dirty="0"/>
              <a:t>Phase 1</a:t>
            </a:r>
            <a:r>
              <a:rPr lang="ja-JP" altLang="en-US" dirty="0"/>
              <a:t>・今回のスコープ</a:t>
            </a:r>
            <a:r>
              <a:rPr lang="ja-JP" altLang="en-US" b="1" dirty="0"/>
              <a:t>）</a:t>
            </a:r>
            <a:endParaRPr kumimoji="1" lang="ja-JP" altLang="en-US" b="1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A699B4A-5633-44E9-B191-09AA2F45A2CA}"/>
              </a:ext>
            </a:extLst>
          </p:cNvPr>
          <p:cNvSpPr txBox="1"/>
          <p:nvPr/>
        </p:nvSpPr>
        <p:spPr>
          <a:xfrm>
            <a:off x="10218387" y="1230392"/>
            <a:ext cx="1308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Google Drive</a:t>
            </a:r>
            <a:endParaRPr kumimoji="1" lang="ja-JP" altLang="en-US" sz="1400" b="1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E54601F-6D2B-4F7B-8A4E-869440583655}"/>
              </a:ext>
            </a:extLst>
          </p:cNvPr>
          <p:cNvSpPr txBox="1"/>
          <p:nvPr/>
        </p:nvSpPr>
        <p:spPr>
          <a:xfrm>
            <a:off x="10218387" y="2073178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/>
              <a:t>Claude API</a:t>
            </a:r>
            <a:endParaRPr kumimoji="1" lang="ja-JP" altLang="en-US" sz="1400" b="1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1ABE53D2-7957-4BDF-AB1B-C4CC9B8D2DBA}"/>
              </a:ext>
            </a:extLst>
          </p:cNvPr>
          <p:cNvSpPr txBox="1"/>
          <p:nvPr/>
        </p:nvSpPr>
        <p:spPr>
          <a:xfrm>
            <a:off x="10218387" y="2915964"/>
            <a:ext cx="1713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 err="1"/>
              <a:t>LangGraph</a:t>
            </a:r>
            <a:r>
              <a:rPr lang="en-US" altLang="ja-JP" sz="1400" b="1" dirty="0"/>
              <a:t> Agent</a:t>
            </a:r>
            <a:endParaRPr kumimoji="1" lang="ja-JP" altLang="en-US" sz="1400" b="1" dirty="0"/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4B398B65-0E2A-43FC-AC30-7559A64F8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4865" y="2334393"/>
            <a:ext cx="1066949" cy="409632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63B8B9BA-377E-44C0-8092-197DE43A7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9449" y="3161825"/>
            <a:ext cx="753547" cy="645259"/>
          </a:xfrm>
          <a:prstGeom prst="rect">
            <a:avLst/>
          </a:prstGeom>
        </p:spPr>
      </p:pic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E21EF04-8CFE-4BF8-B31B-85646FBA4861}"/>
              </a:ext>
            </a:extLst>
          </p:cNvPr>
          <p:cNvSpPr txBox="1"/>
          <p:nvPr/>
        </p:nvSpPr>
        <p:spPr>
          <a:xfrm>
            <a:off x="9956923" y="4839058"/>
            <a:ext cx="19527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・</a:t>
            </a:r>
            <a:r>
              <a:rPr lang="en-US" altLang="ja-JP" sz="1200" dirty="0"/>
              <a:t>users</a:t>
            </a:r>
            <a:r>
              <a:rPr lang="ja-JP" altLang="en-US" sz="1200" dirty="0"/>
              <a:t>テーブル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Neo4j</a:t>
            </a:r>
            <a:r>
              <a:rPr lang="ja-JP" altLang="en-US" sz="1200" dirty="0"/>
              <a:t>の</a:t>
            </a:r>
            <a:r>
              <a:rPr lang="en-US" altLang="ja-JP" sz="1200" dirty="0"/>
              <a:t>Concept</a:t>
            </a:r>
            <a:r>
              <a:rPr lang="ja-JP" altLang="en-US" sz="1200" dirty="0"/>
              <a:t>ノード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 err="1"/>
              <a:t>LangGraph</a:t>
            </a:r>
            <a:r>
              <a:rPr lang="en-US" altLang="ja-JP" sz="1200" dirty="0"/>
              <a:t> Agent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Claude API</a:t>
            </a:r>
            <a:r>
              <a:rPr lang="ja-JP" altLang="en-US" sz="1200" dirty="0"/>
              <a:t>のキー</a:t>
            </a:r>
          </a:p>
          <a:p>
            <a:r>
              <a:rPr lang="ja-JP" altLang="en-US" sz="1200" dirty="0"/>
              <a:t>・</a:t>
            </a:r>
            <a:r>
              <a:rPr lang="en-US" altLang="ja-JP" sz="1200" dirty="0"/>
              <a:t>R2</a:t>
            </a:r>
            <a:r>
              <a:rPr lang="ja-JP" altLang="en-US" sz="1200" dirty="0"/>
              <a:t>（パス分離で共有）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3A8C2B13-2340-4E29-98AE-6A941731B855}"/>
              </a:ext>
            </a:extLst>
          </p:cNvPr>
          <p:cNvSpPr/>
          <p:nvPr/>
        </p:nvSpPr>
        <p:spPr>
          <a:xfrm>
            <a:off x="7401090" y="898979"/>
            <a:ext cx="2206070" cy="5377301"/>
          </a:xfrm>
          <a:prstGeom prst="rect">
            <a:avLst/>
          </a:prstGeom>
          <a:noFill/>
          <a:ln w="222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7FB7CAC-E116-4986-9411-6441BA5F08CD}"/>
              </a:ext>
            </a:extLst>
          </p:cNvPr>
          <p:cNvSpPr txBox="1"/>
          <p:nvPr/>
        </p:nvSpPr>
        <p:spPr>
          <a:xfrm>
            <a:off x="7700101" y="708565"/>
            <a:ext cx="1419497" cy="307777"/>
          </a:xfrm>
          <a:prstGeom prst="rect">
            <a:avLst/>
          </a:prstGeom>
          <a:solidFill>
            <a:srgbClr val="96B0DE"/>
          </a:solidFill>
        </p:spPr>
        <p:txBody>
          <a:bodyPr wrap="square" rtlCol="0" anchor="ctr" anchorCtr="0">
            <a:spAutoFit/>
          </a:bodyPr>
          <a:lstStyle/>
          <a:p>
            <a:pPr algn="ctr"/>
            <a:r>
              <a:rPr lang="ja-JP" altLang="en-US" sz="1400" b="1" dirty="0"/>
              <a:t>データ層</a:t>
            </a:r>
            <a:endParaRPr kumimoji="1" lang="en-US" altLang="ja-JP" sz="1400" b="1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4232AD1-8202-4420-AB00-60CBB04AFF32}"/>
              </a:ext>
            </a:extLst>
          </p:cNvPr>
          <p:cNvSpPr/>
          <p:nvPr/>
        </p:nvSpPr>
        <p:spPr>
          <a:xfrm>
            <a:off x="403022" y="3699990"/>
            <a:ext cx="908999" cy="146418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※</a:t>
            </a:r>
            <a:r>
              <a:rPr kumimoji="1" lang="ja-JP" altLang="en-US" sz="1200" dirty="0">
                <a:solidFill>
                  <a:srgbClr val="FF0000"/>
                </a:solidFill>
              </a:rPr>
              <a:t>対象外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080E2F1-EE60-4183-B6E5-035F8C4D9203}"/>
              </a:ext>
            </a:extLst>
          </p:cNvPr>
          <p:cNvSpPr/>
          <p:nvPr/>
        </p:nvSpPr>
        <p:spPr>
          <a:xfrm>
            <a:off x="9879897" y="1018959"/>
            <a:ext cx="2227228" cy="5257321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kumimoji="1" lang="en-US" altLang="ja-JP" sz="1200" dirty="0">
                <a:solidFill>
                  <a:srgbClr val="FF0000"/>
                </a:solidFill>
              </a:rPr>
              <a:t>※</a:t>
            </a:r>
            <a:r>
              <a:rPr kumimoji="1" lang="ja-JP" altLang="en-US" sz="1200" dirty="0">
                <a:solidFill>
                  <a:srgbClr val="FF0000"/>
                </a:solidFill>
              </a:rPr>
              <a:t>対象外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7319CE-5287-4BB0-847A-C6BDC42619DE}"/>
              </a:ext>
            </a:extLst>
          </p:cNvPr>
          <p:cNvSpPr txBox="1"/>
          <p:nvPr/>
        </p:nvSpPr>
        <p:spPr>
          <a:xfrm>
            <a:off x="395403" y="6488668"/>
            <a:ext cx="113543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00" b="1" dirty="0"/>
              <a:t>凡例</a:t>
            </a:r>
            <a:r>
              <a:rPr kumimoji="1" lang="ja-JP" altLang="en-US" sz="1300" dirty="0"/>
              <a:t>：</a:t>
            </a:r>
            <a:r>
              <a:rPr kumimoji="1" lang="en-US" altLang="ja-JP" sz="1300" dirty="0">
                <a:solidFill>
                  <a:srgbClr val="FF0000"/>
                </a:solidFill>
              </a:rPr>
              <a:t>※</a:t>
            </a:r>
            <a:r>
              <a:rPr kumimoji="1" lang="ja-JP" altLang="en-US" sz="1300" dirty="0">
                <a:solidFill>
                  <a:srgbClr val="FF0000"/>
                </a:solidFill>
              </a:rPr>
              <a:t>対象外</a:t>
            </a:r>
            <a:r>
              <a:rPr kumimoji="1" lang="ja-JP" altLang="en-US" sz="1300" dirty="0"/>
              <a:t>（赤文字）、取り消し線（グレーアウト文字）は、今回のスコープ対象外となります。「</a:t>
            </a:r>
            <a:r>
              <a:rPr kumimoji="1" lang="ja-JP" altLang="en-US" sz="1300" dirty="0">
                <a:solidFill>
                  <a:srgbClr val="FF0000"/>
                </a:solidFill>
              </a:rPr>
              <a:t>⇒</a:t>
            </a:r>
            <a:r>
              <a:rPr kumimoji="1" lang="ja-JP" altLang="en-US" sz="1300" dirty="0"/>
              <a:t>」（赤文字矢印）は、修正点になります。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12771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597</Words>
  <Application>Microsoft Office PowerPoint</Application>
  <PresentationFormat>ワイド画面</PresentationFormat>
  <Paragraphs>113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kazuo</dc:creator>
  <cp:lastModifiedBy>kazuo</cp:lastModifiedBy>
  <cp:revision>20</cp:revision>
  <cp:lastPrinted>2026-02-18T07:15:27Z</cp:lastPrinted>
  <dcterms:created xsi:type="dcterms:W3CDTF">2026-02-18T01:43:46Z</dcterms:created>
  <dcterms:modified xsi:type="dcterms:W3CDTF">2026-02-18T07:25:24Z</dcterms:modified>
</cp:coreProperties>
</file>